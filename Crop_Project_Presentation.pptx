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everyone. We are presenting our mini project: the Crop Recommendation and Disease Detection System. This is a web application that uses Machine Learning and Deep Learning together to help a farmer decide which crop to grow, and to detect diseases in their crop just from a photo of a leaf. Over the next few slides we will walk through the problem we are solving, how the system is built, the two ML models behind it, and a few features that make this more than just a basic prediction tool — including how we handle a disease the model has never seen before, which was a specific question we were asked to address.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Agriculture is one of the most important sectors of our economy, and crop selection is one of the most critical decisions a farmer makes every season. Choosing the wrong crop for the soil and climate leads to poor yield and wasted resources, and if a disease isn't caught early it can destroy an entire harvest. Most farmers today rely on traditional knowledge or informal local advice rather than any data-driven tool. And even where disease-detection apps exist, they usually just guess the closest known disease even when the real problem is something new — which is actually one of the key issues our project specifically tries to solve, as you'll see in a few slides.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project has four main objectives. First, recommend the most suitable crop based on soil nutrients and climate — this also includes region-specific tuning for the Kokan belt of Maharashtra. Second, detect crop disease from a simple leaf photo and suggest a practical treatment, covering 31 disease classes across six crops: Rice, Mango, Coconut, Cashew, Banana, and Sugarcane. Third, forecast disease risk using current weather conditions, so a farmer can be warned before any symptom is even visible. And fourth — and this is something we built specifically to address a common weakness in ML systems — handle the unknown. Instead of forcing a wrong guess when the model sees something it doesn't recognize, the system flags it and learns from user feedback over time.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system is organized in four layers. At the top is the Presentation layer — the actual web pages the user interacts with: login, signup, the dashboard, the disease detection page, and history and profile pages. Below that is the Application layer, built with Flask, which handles authentication and sessions, validates user input, calls the weather service, and controls which prediction to run. Below that is the ML and DL layer — this is where our two trained models actually live: the Random Forest model for crop recommendation, and the CNN for disease detection. And at the bottom is the Data layer: the SQLite database for user accounts, the crop dataset, weather data, and the leaf images that get uploaded. Each layer only talks to the one directly below it, which keeps the system clean and easy to maintain.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project relies on two separate models working together. On the left, Crop Recommendation uses a Random Forest Classifier — essentially a committee of 100 decision trees that vote on the best answer. It takes 10 input features: the three soil nutrients nitrogen, phosphorus and potassium, plus temperature, humidity, pH and rainfall, and three extra engineered features we calculated ourselves — an NPK ratio, a temperature-humidity index, and a soil fertility score. It picks the best match out of 22 crops, and we validated it using 5-fold cross-validation, which gave us 99.45 percent accuracy — a reliable, honest estimate rather than a lucky single test split. On the right, Disease Detection uses a Convolutional Neural Network, which is the standard deep learning approach for image classification. It takes a 224 by 224 pixel leaf photo and predicts the best match out of 31 disease classes across six crops: Rice, Mango, Coconut, Cashew, Banana and Sugarcane. The key enhancement here is the confidence threshold, which we'll explain in detail in a couple of slides.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covers two related features. On the left is the disease detection pipeline: the user uploads a leaf photo, it gets resized and normalized, the CNN predicts a probability across all 31 disease classes, and then — this is important — we check the confidence of that prediction before showing anything. If confidence is below 60 percent, we don't show a diagnosis at all; only a confident prediction shows the disease name, confidence percentage, and a treatment suggestion. On the right is a feature we added specifically to make the system more proactive: weather-based disease risk forecasting. The system looks at current humidity, temperature and rainfall for a region and classifies the risk as High, Moderate or Low, along with which diseases are likely under those conditions. For example, high humidity combined with warm temperatures strongly favors fungal and bacterial diseases like Rice Blast. This means a farmer can get a warning before any symptom even shows up on the plant, not just after uploading a photo of visible damage.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question we were specifically asked to address: what happens if a disease appears that the model has never seen during training? Our answer has four steps. First, every single prediction carries a confidence score — essentially, how sure the model is. Second, if that confidence falls below 60 percent, we do not show a diagnosis at all; instead we show 'Unrecognized Condition' and log the image, along with the model's best but rejected guess, into a database table for review. Third, we invite the user to optionally tell us what they think the actual condition is, which turns an uncertain upload into a useful labeled example instead of being wasted. Fourth, we built an admin dashboard where someone can review every flagged case — see the image, the model's guess, and the user's suggestion — and mark it reviewed once it's been assessed. Over time, these reviewed cases become ready-made candidate data for retraining the model to recognize new diseases, so the system keeps improving instead of staying frozen at its original training set.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full technology stack behind the project. Flask handles the backend and routes every page request. scikit-learn provides the Random Forest model for crop recommendation, along with the scalers that normalize input values before prediction. TensorFlow and Keras provide the Convolutional Neural Network for disease detection. SQLite is our lightweight database, storing user accounts and the unknown-disease review queue. The frontend is plain HTML, CSS, JavaScript and Jinja2 templates — no heavy frontend framework was needed for this scope. Pillow handles image processing for uploaded leaf photos. For security, passwords are hashed with SHA-256, never stored as plain text, and every sensitive page is protected by session-based authentication. Finally, our trained models are saved to disk — the Random Forest as a pickle file, and the CNN in the native Keras format — so they load instantly when the server starts, without needing to retrain every time.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our results: the crop recommendation model achieves 99.45 percent accuracy under 5-fold cross-validation, which is a genuine, honest estimate of how well it generalizes, not just a lucky single test split. It supports 22 crop classes. The disease detection model covers 31 disease classes across 6 crops, and applies a 60 percent confidence threshold before showing any diagnosis. [At this point, walk through your actual screenshots: the dashboard with the crop form and weather risk banner, a confident disease result with its remedy, the unrecognized-condition fallback screen, and the admin review dashboard showing flagged cases.] These screenshots are proof that every feature we've described is actually working end-to-end in the running application, not just a theoretical design.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this project demonstrates that classical machine learning and deep learning can work together in a single application to help farmers make better decisions — recommending the right crop, diagnosing disease from a leaf photo, and even warning about disease risk before any symptom appears. Most importantly, we specifically addressed the limitation that image classification models can only recognize what they were trained on, by building a confidence threshold and a human-in-the-loop feedback system, so the application has a real path to keep improving over time. For future work, we'd like to integrate a live weather API instead of our current simulated data, automate the retraining process using the admin-reviewed reports, add yield and market-price prediction, support regional languages like Hindi and Marathi with voice input, and eventually build an offline-capable mobile app for areas with poor connectivity. Thank you, and we're happy to take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413248" y="960120"/>
            <a:ext cx="1371600" cy="13716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3400" b="1">
                <a:solidFill>
                  <a:srgbClr val="FFFFFF"/>
                </a:solidFill>
              </a:rPr>
              <a:t>✿</a:t>
            </a:r>
          </a:p>
        </p:txBody>
      </p:sp>
      <p:sp>
        <p:nvSpPr>
          <p:cNvPr id="6" name="TextBox 5"/>
          <p:cNvSpPr txBox="1"/>
          <p:nvPr/>
        </p:nvSpPr>
        <p:spPr>
          <a:xfrm>
            <a:off x="914400" y="2606040"/>
            <a:ext cx="10360152" cy="365760"/>
          </a:xfrm>
          <a:prstGeom prst="rect">
            <a:avLst/>
          </a:prstGeom>
          <a:noFill/>
        </p:spPr>
        <p:txBody>
          <a:bodyPr wrap="square" anchor="t" lIns="0" rIns="0" tIns="0" bIns="0">
            <a:spAutoFit/>
          </a:bodyPr>
          <a:lstStyle/>
          <a:p>
            <a:pPr algn="ctr">
              <a:lnSpc>
                <a:spcPct val="100000"/>
              </a:lnSpc>
              <a:spcAft>
                <a:spcPts val="0"/>
              </a:spcAft>
            </a:pPr>
            <a:r>
              <a:rPr sz="1400" b="1" i="0">
                <a:solidFill>
                  <a:srgbClr val="2E7D32"/>
                </a:solidFill>
                <a:latin typeface="Calibri"/>
              </a:rPr>
              <a:t>A MINI PROJECT PRESENTATION</a:t>
            </a:r>
          </a:p>
        </p:txBody>
      </p:sp>
      <p:sp>
        <p:nvSpPr>
          <p:cNvPr id="7" name="TextBox 6"/>
          <p:cNvSpPr txBox="1"/>
          <p:nvPr/>
        </p:nvSpPr>
        <p:spPr>
          <a:xfrm>
            <a:off x="914400" y="2971800"/>
            <a:ext cx="10360152" cy="1371600"/>
          </a:xfrm>
          <a:prstGeom prst="rect">
            <a:avLst/>
          </a:prstGeom>
          <a:noFill/>
        </p:spPr>
        <p:txBody>
          <a:bodyPr wrap="square" anchor="t" lIns="0" rIns="0" tIns="0" bIns="0">
            <a:spAutoFit/>
          </a:bodyPr>
          <a:lstStyle/>
          <a:p>
            <a:pPr algn="ctr">
              <a:lnSpc>
                <a:spcPct val="108000"/>
              </a:lnSpc>
              <a:spcAft>
                <a:spcPts val="0"/>
              </a:spcAft>
            </a:pPr>
            <a:r>
              <a:rPr sz="3600" b="1" i="0">
                <a:solidFill>
                  <a:srgbClr val="1B4332"/>
                </a:solidFill>
                <a:latin typeface="Calibri"/>
              </a:rPr>
              <a:t>Crop Recommendation &amp; Disease</a:t>
            </a:r>
          </a:p>
          <a:p>
            <a:pPr algn="ctr">
              <a:lnSpc>
                <a:spcPct val="108000"/>
              </a:lnSpc>
              <a:spcAft>
                <a:spcPts val="0"/>
              </a:spcAft>
            </a:pPr>
            <a:r>
              <a:rPr sz="3600" b="1" i="0">
                <a:solidFill>
                  <a:srgbClr val="1B4332"/>
                </a:solidFill>
                <a:latin typeface="Calibri"/>
              </a:rPr>
              <a:t>Detection System</a:t>
            </a:r>
          </a:p>
        </p:txBody>
      </p:sp>
      <p:sp>
        <p:nvSpPr>
          <p:cNvPr id="8" name="TextBox 7"/>
          <p:cNvSpPr txBox="1"/>
          <p:nvPr/>
        </p:nvSpPr>
        <p:spPr>
          <a:xfrm>
            <a:off x="1371600" y="4251960"/>
            <a:ext cx="9445752" cy="457200"/>
          </a:xfrm>
          <a:prstGeom prst="rect">
            <a:avLst/>
          </a:prstGeom>
          <a:noFill/>
        </p:spPr>
        <p:txBody>
          <a:bodyPr wrap="square" anchor="t" lIns="0" rIns="0" tIns="0" bIns="0">
            <a:spAutoFit/>
          </a:bodyPr>
          <a:lstStyle/>
          <a:p>
            <a:pPr algn="ctr">
              <a:lnSpc>
                <a:spcPct val="100000"/>
              </a:lnSpc>
              <a:spcAft>
                <a:spcPts val="0"/>
              </a:spcAft>
            </a:pPr>
            <a:r>
              <a:rPr sz="1500" b="0" i="1">
                <a:solidFill>
                  <a:srgbClr val="5B6B73"/>
                </a:solidFill>
                <a:latin typeface="Calibri"/>
              </a:rPr>
              <a:t>Helping farmers choose the right crop and diagnose plant disease using Machine Learning</a:t>
            </a:r>
          </a:p>
        </p:txBody>
      </p:sp>
      <p:sp>
        <p:nvSpPr>
          <p:cNvPr id="9" name="Rectangle 8"/>
          <p:cNvSpPr/>
          <p:nvPr/>
        </p:nvSpPr>
        <p:spPr>
          <a:xfrm>
            <a:off x="5184648" y="4846320"/>
            <a:ext cx="1828800" cy="3175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212080"/>
            <a:ext cx="5120640" cy="914400"/>
          </a:xfrm>
          <a:prstGeom prst="rect">
            <a:avLst/>
          </a:prstGeom>
          <a:noFill/>
        </p:spPr>
        <p:txBody>
          <a:bodyPr wrap="square" anchor="t" lIns="0" rIns="0" tIns="0" bIns="0">
            <a:spAutoFit/>
          </a:bodyPr>
          <a:lstStyle/>
          <a:p>
            <a:pPr algn="l">
              <a:lnSpc>
                <a:spcPct val="130000"/>
              </a:lnSpc>
              <a:spcAft>
                <a:spcPts val="0"/>
              </a:spcAft>
            </a:pPr>
            <a:r>
              <a:rPr sz="1200" b="0" i="0">
                <a:solidFill>
                  <a:srgbClr val="2C3E50"/>
                </a:solidFill>
                <a:latin typeface="Calibri"/>
              </a:rPr>
              <a:t>Team Members:</a:t>
            </a:r>
          </a:p>
          <a:p>
            <a:pPr algn="l">
              <a:lnSpc>
                <a:spcPct val="130000"/>
              </a:lnSpc>
              <a:spcAft>
                <a:spcPts val="0"/>
              </a:spcAft>
            </a:pPr>
            <a:r>
              <a:rPr sz="1200" b="0" i="0">
                <a:solidFill>
                  <a:srgbClr val="2C3E50"/>
                </a:solidFill>
                <a:latin typeface="Calibri"/>
              </a:rPr>
              <a:t>[Name 1], [Name 2], [Name 3], [Name 4]</a:t>
            </a:r>
          </a:p>
        </p:txBody>
      </p:sp>
      <p:sp>
        <p:nvSpPr>
          <p:cNvPr id="11" name="TextBox 10"/>
          <p:cNvSpPr txBox="1"/>
          <p:nvPr/>
        </p:nvSpPr>
        <p:spPr>
          <a:xfrm>
            <a:off x="6153912" y="5212080"/>
            <a:ext cx="5120640" cy="914400"/>
          </a:xfrm>
          <a:prstGeom prst="rect">
            <a:avLst/>
          </a:prstGeom>
          <a:noFill/>
        </p:spPr>
        <p:txBody>
          <a:bodyPr wrap="square" anchor="t" lIns="0" rIns="0" tIns="0" bIns="0">
            <a:spAutoFit/>
          </a:bodyPr>
          <a:lstStyle/>
          <a:p>
            <a:pPr algn="r">
              <a:lnSpc>
                <a:spcPct val="130000"/>
              </a:lnSpc>
              <a:spcAft>
                <a:spcPts val="0"/>
              </a:spcAft>
            </a:pPr>
            <a:r>
              <a:rPr sz="1200" b="0" i="0">
                <a:solidFill>
                  <a:srgbClr val="2C3E50"/>
                </a:solidFill>
                <a:latin typeface="Calibri"/>
              </a:rPr>
              <a:t>Guide: [Guide Name]</a:t>
            </a:r>
          </a:p>
          <a:p>
            <a:pPr algn="r">
              <a:lnSpc>
                <a:spcPct val="130000"/>
              </a:lnSpc>
              <a:spcAft>
                <a:spcPts val="0"/>
              </a:spcAft>
            </a:pPr>
            <a:r>
              <a:rPr sz="1200" b="0" i="0">
                <a:solidFill>
                  <a:srgbClr val="2C3E50"/>
                </a:solidFill>
                <a:latin typeface="Calibri"/>
              </a:rPr>
              <a:t>[Department], [College]  |  [Academic Year]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C06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7315200" cy="292608"/>
          </a:xfrm>
          <a:prstGeom prst="rect">
            <a:avLst/>
          </a:prstGeom>
          <a:noFill/>
        </p:spPr>
        <p:txBody>
          <a:bodyPr wrap="square" anchor="t" lIns="0" rIns="0" tIns="0" bIns="0">
            <a:spAutoFit/>
          </a:bodyPr>
          <a:lstStyle/>
          <a:p>
            <a:pPr algn="l">
              <a:lnSpc>
                <a:spcPct val="100000"/>
              </a:lnSpc>
              <a:spcAft>
                <a:spcPts val="0"/>
              </a:spcAft>
            </a:pPr>
            <a:r>
              <a:rPr sz="1200" b="1" i="0">
                <a:solidFill>
                  <a:srgbClr val="C06B4A"/>
                </a:solidFill>
                <a:latin typeface="Calibri"/>
              </a:rPr>
              <a:t>THE CHALLENGE</a:t>
            </a:r>
          </a:p>
        </p:txBody>
      </p:sp>
      <p:sp>
        <p:nvSpPr>
          <p:cNvPr id="5" name="TextBox 4"/>
          <p:cNvSpPr txBox="1"/>
          <p:nvPr/>
        </p:nvSpPr>
        <p:spPr>
          <a:xfrm>
            <a:off x="502920" y="548640"/>
            <a:ext cx="10607040" cy="621792"/>
          </a:xfrm>
          <a:prstGeom prst="rect">
            <a:avLst/>
          </a:prstGeom>
          <a:noFill/>
        </p:spPr>
        <p:txBody>
          <a:bodyPr wrap="square" anchor="t" lIns="0" rIns="0" tIns="0" bIns="0">
            <a:spAutoFit/>
          </a:bodyPr>
          <a:lstStyle/>
          <a:p>
            <a:pPr algn="l">
              <a:lnSpc>
                <a:spcPct val="100000"/>
              </a:lnSpc>
              <a:spcAft>
                <a:spcPts val="0"/>
              </a:spcAft>
            </a:pPr>
            <a:r>
              <a:rPr sz="2600" b="1" i="0">
                <a:solidFill>
                  <a:srgbClr val="1B4332"/>
                </a:solidFill>
                <a:latin typeface="Calibri"/>
              </a:rPr>
              <a:t>Problem Statement</a:t>
            </a:r>
          </a:p>
        </p:txBody>
      </p:sp>
      <p:sp>
        <p:nvSpPr>
          <p:cNvPr id="6" name="Rectangle 5"/>
          <p:cNvSpPr/>
          <p:nvPr/>
        </p:nvSpPr>
        <p:spPr>
          <a:xfrm>
            <a:off x="502920" y="1170432"/>
            <a:ext cx="1005840" cy="38100"/>
          </a:xfrm>
          <a:prstGeom prst="rect">
            <a:avLst/>
          </a:prstGeom>
          <a:solidFill>
            <a:srgbClr val="C06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spcAft>
                <a:spcPts val="0"/>
              </a:spcAft>
            </a:pPr>
            <a:r>
              <a:rPr sz="850" b="0" i="0">
                <a:solidFill>
                  <a:srgbClr val="5B6B73"/>
                </a:solidFill>
                <a:latin typeface="Calibri"/>
              </a:rPr>
              <a:t>Crop Recommendation &amp; Disease Detection System</a:t>
            </a:r>
          </a:p>
        </p:txBody>
      </p:sp>
      <p:sp>
        <p:nvSpPr>
          <p:cNvPr id="8" name="TextBox 7"/>
          <p:cNvSpPr txBox="1"/>
          <p:nvPr/>
        </p:nvSpPr>
        <p:spPr>
          <a:xfrm>
            <a:off x="502920" y="1508760"/>
            <a:ext cx="5349240" cy="685800"/>
          </a:xfrm>
          <a:prstGeom prst="rect">
            <a:avLst/>
          </a:prstGeom>
          <a:noFill/>
        </p:spPr>
        <p:txBody>
          <a:bodyPr wrap="square" anchor="t" lIns="0" rIns="0" tIns="0" bIns="0">
            <a:spAutoFit/>
          </a:bodyPr>
          <a:lstStyle/>
          <a:p>
            <a:pPr algn="l">
              <a:lnSpc>
                <a:spcPct val="120000"/>
              </a:lnSpc>
              <a:spcAft>
                <a:spcPts val="0"/>
              </a:spcAft>
            </a:pPr>
            <a:r>
              <a:rPr sz="1400" b="1" i="0">
                <a:solidFill>
                  <a:srgbClr val="2C3E50"/>
                </a:solidFill>
                <a:latin typeface="Calibri"/>
              </a:rPr>
              <a:t>Farmers, especially in regions with varied soil and</a:t>
            </a:r>
          </a:p>
          <a:p>
            <a:pPr algn="l">
              <a:lnSpc>
                <a:spcPct val="120000"/>
              </a:lnSpc>
              <a:spcAft>
                <a:spcPts val="0"/>
              </a:spcAft>
            </a:pPr>
            <a:r>
              <a:rPr sz="1400" b="1" i="0">
                <a:solidFill>
                  <a:srgbClr val="2C3E50"/>
                </a:solidFill>
                <a:latin typeface="Calibri"/>
              </a:rPr>
              <a:t>micro-climates, often lack easy data-driven tools to:</a:t>
            </a:r>
          </a:p>
        </p:txBody>
      </p:sp>
      <p:sp>
        <p:nvSpPr>
          <p:cNvPr id="9" name="TextBox 8"/>
          <p:cNvSpPr txBox="1"/>
          <p:nvPr/>
        </p:nvSpPr>
        <p:spPr>
          <a:xfrm>
            <a:off x="502920" y="2286000"/>
            <a:ext cx="5440680" cy="3657600"/>
          </a:xfrm>
          <a:prstGeom prst="rect">
            <a:avLst/>
          </a:prstGeom>
          <a:noFill/>
        </p:spPr>
        <p:txBody>
          <a:bodyPr wrap="square" lIns="0" rIns="0" tIns="0" bIns="0">
            <a:spAutoFit/>
          </a:bodyPr>
          <a:lstStyle/>
          <a:p>
            <a:pPr algn="l">
              <a:lnSpc>
                <a:spcPct val="110000"/>
              </a:lnSpc>
              <a:spcAft>
                <a:spcPts val="1300"/>
              </a:spcAft>
            </a:pPr>
            <a:r>
              <a:rPr sz="1300" b="1">
                <a:solidFill>
                  <a:srgbClr val="C06B4A"/>
                </a:solidFill>
                <a:latin typeface="Calibri"/>
              </a:rPr>
              <a:t>›  </a:t>
            </a:r>
            <a:r>
              <a:rPr sz="1300" b="1">
                <a:solidFill>
                  <a:srgbClr val="1B4332"/>
                </a:solidFill>
                <a:latin typeface="Calibri"/>
              </a:rPr>
              <a:t>Choose the right crop  </a:t>
            </a:r>
            <a:r>
              <a:rPr sz="1300">
                <a:solidFill>
                  <a:srgbClr val="2C3E50"/>
                </a:solidFill>
                <a:latin typeface="Calibri"/>
              </a:rPr>
              <a:t>for their specific soil nutrients (Nitrogen, Phosphorus, Potassium) and local climate, instead of relying on past experience or guesswork.</a:t>
            </a:r>
          </a:p>
          <a:p>
            <a:pPr algn="l">
              <a:lnSpc>
                <a:spcPct val="110000"/>
              </a:lnSpc>
              <a:spcAft>
                <a:spcPts val="1300"/>
              </a:spcAft>
            </a:pPr>
            <a:r>
              <a:rPr sz="1300" b="1">
                <a:solidFill>
                  <a:srgbClr val="C06B4A"/>
                </a:solidFill>
                <a:latin typeface="Calibri"/>
              </a:rPr>
              <a:t>›  </a:t>
            </a:r>
            <a:r>
              <a:rPr sz="1300" b="1">
                <a:solidFill>
                  <a:srgbClr val="1B4332"/>
                </a:solidFill>
                <a:latin typeface="Calibri"/>
              </a:rPr>
              <a:t>Detect disease early  </a:t>
            </a:r>
            <a:r>
              <a:rPr sz="1300">
                <a:solidFill>
                  <a:srgbClr val="2C3E50"/>
                </a:solidFill>
                <a:latin typeface="Calibri"/>
              </a:rPr>
              <a:t>since plant diseases are often noticed only after visible damage has already spread across the field.</a:t>
            </a:r>
          </a:p>
          <a:p>
            <a:pPr algn="l">
              <a:lnSpc>
                <a:spcPct val="110000"/>
              </a:lnSpc>
              <a:spcAft>
                <a:spcPts val="1300"/>
              </a:spcAft>
            </a:pPr>
            <a:r>
              <a:rPr sz="1300" b="1">
                <a:solidFill>
                  <a:srgbClr val="C06B4A"/>
                </a:solidFill>
                <a:latin typeface="Calibri"/>
              </a:rPr>
              <a:t>›  </a:t>
            </a:r>
            <a:r>
              <a:rPr sz="1300" b="1">
                <a:solidFill>
                  <a:srgbClr val="1B4332"/>
                </a:solidFill>
                <a:latin typeface="Calibri"/>
              </a:rPr>
              <a:t>Get a reliable remedy  </a:t>
            </a:r>
            <a:r>
              <a:rPr sz="1300">
                <a:solidFill>
                  <a:srgbClr val="2C3E50"/>
                </a:solidFill>
                <a:latin typeface="Calibri"/>
              </a:rPr>
              <a:t>most farmers identify a disease by asking around locally, with no guarantee the suggested treatment is correct.</a:t>
            </a:r>
          </a:p>
          <a:p>
            <a:pPr algn="l">
              <a:lnSpc>
                <a:spcPct val="110000"/>
              </a:lnSpc>
              <a:spcAft>
                <a:spcPts val="1300"/>
              </a:spcAft>
            </a:pPr>
            <a:r>
              <a:rPr sz="1300" b="1">
                <a:solidFill>
                  <a:srgbClr val="C06B4A"/>
                </a:solidFill>
                <a:latin typeface="Calibri"/>
              </a:rPr>
              <a:t>›  </a:t>
            </a:r>
            <a:r>
              <a:rPr sz="1300" b="1">
                <a:solidFill>
                  <a:srgbClr val="1B4332"/>
                </a:solidFill>
                <a:latin typeface="Calibri"/>
              </a:rPr>
              <a:t>Respond to the unknown  </a:t>
            </a:r>
            <a:r>
              <a:rPr sz="1300">
                <a:solidFill>
                  <a:srgbClr val="2C3E50"/>
                </a:solidFill>
                <a:latin typeface="Calibri"/>
              </a:rPr>
              <a:t>existing detection tools fail silently when a disease doesn't match what they were trained on — they guess instead of saying “I'm not sure.”</a:t>
            </a:r>
          </a:p>
        </p:txBody>
      </p:sp>
      <p:sp>
        <p:nvSpPr>
          <p:cNvPr id="10" name="Rounded Rectangle 9"/>
          <p:cNvSpPr/>
          <p:nvPr/>
        </p:nvSpPr>
        <p:spPr>
          <a:xfrm>
            <a:off x="6400800" y="1508760"/>
            <a:ext cx="5285232" cy="4434840"/>
          </a:xfrm>
          <a:prstGeom prst="roundRect">
            <a:avLst>
              <a:gd name="adj" fmla="val 6000"/>
            </a:avLst>
          </a:prstGeom>
          <a:solidFill>
            <a:srgbClr val="F4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20840" y="1719072"/>
            <a:ext cx="4663440" cy="365760"/>
          </a:xfrm>
          <a:prstGeom prst="rect">
            <a:avLst/>
          </a:prstGeom>
          <a:noFill/>
        </p:spPr>
        <p:txBody>
          <a:bodyPr wrap="square" anchor="t" lIns="0" rIns="0" tIns="0" bIns="0">
            <a:spAutoFit/>
          </a:bodyPr>
          <a:lstStyle/>
          <a:p>
            <a:pPr algn="l">
              <a:lnSpc>
                <a:spcPct val="100000"/>
              </a:lnSpc>
              <a:spcAft>
                <a:spcPts val="0"/>
              </a:spcAft>
            </a:pPr>
            <a:r>
              <a:rPr sz="1200" b="1" i="0">
                <a:solidFill>
                  <a:srgbClr val="2E7D32"/>
                </a:solidFill>
                <a:latin typeface="Calibri"/>
              </a:rPr>
              <a:t>WHY THIS MATTERS</a:t>
            </a:r>
          </a:p>
        </p:txBody>
      </p:sp>
      <p:sp>
        <p:nvSpPr>
          <p:cNvPr id="12" name="Oval 11"/>
          <p:cNvSpPr/>
          <p:nvPr/>
        </p:nvSpPr>
        <p:spPr>
          <a:xfrm>
            <a:off x="6720840" y="2148840"/>
            <a:ext cx="365760" cy="365760"/>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rPr>
              <a:t>!</a:t>
            </a:r>
          </a:p>
        </p:txBody>
      </p:sp>
      <p:sp>
        <p:nvSpPr>
          <p:cNvPr id="13" name="TextBox 12"/>
          <p:cNvSpPr txBox="1"/>
          <p:nvPr/>
        </p:nvSpPr>
        <p:spPr>
          <a:xfrm>
            <a:off x="7242048" y="2121408"/>
            <a:ext cx="4297680" cy="292608"/>
          </a:xfrm>
          <a:prstGeom prst="rect">
            <a:avLst/>
          </a:prstGeom>
          <a:noFill/>
        </p:spPr>
        <p:txBody>
          <a:bodyPr wrap="square" anchor="t" lIns="0" rIns="0" tIns="0" bIns="0">
            <a:spAutoFit/>
          </a:bodyPr>
          <a:lstStyle/>
          <a:p>
            <a:pPr algn="l">
              <a:lnSpc>
                <a:spcPct val="100000"/>
              </a:lnSpc>
              <a:spcAft>
                <a:spcPts val="0"/>
              </a:spcAft>
            </a:pPr>
            <a:r>
              <a:rPr sz="1250" b="1" i="0">
                <a:solidFill>
                  <a:srgbClr val="1B4332"/>
                </a:solidFill>
                <a:latin typeface="Calibri"/>
              </a:rPr>
              <a:t>Wrong crop choice</a:t>
            </a:r>
          </a:p>
        </p:txBody>
      </p:sp>
      <p:sp>
        <p:nvSpPr>
          <p:cNvPr id="14" name="TextBox 13"/>
          <p:cNvSpPr txBox="1"/>
          <p:nvPr/>
        </p:nvSpPr>
        <p:spPr>
          <a:xfrm>
            <a:off x="7242048" y="2414016"/>
            <a:ext cx="4297680" cy="566928"/>
          </a:xfrm>
          <a:prstGeom prst="rect">
            <a:avLst/>
          </a:prstGeom>
          <a:noFill/>
        </p:spPr>
        <p:txBody>
          <a:bodyPr wrap="square" anchor="t" lIns="0" rIns="0" tIns="0" bIns="0">
            <a:spAutoFit/>
          </a:bodyPr>
          <a:lstStyle/>
          <a:p>
            <a:pPr algn="l">
              <a:lnSpc>
                <a:spcPct val="110000"/>
              </a:lnSpc>
              <a:spcAft>
                <a:spcPts val="0"/>
              </a:spcAft>
            </a:pPr>
            <a:r>
              <a:rPr sz="1050" b="0" i="0">
                <a:solidFill>
                  <a:srgbClr val="5B6B73"/>
                </a:solidFill>
                <a:latin typeface="Calibri"/>
              </a:rPr>
              <a:t>Poor yield, wasted fertilizer, water, and time spent on an unsuitable crop for that soil/climate.</a:t>
            </a:r>
          </a:p>
        </p:txBody>
      </p:sp>
      <p:sp>
        <p:nvSpPr>
          <p:cNvPr id="15" name="Oval 14"/>
          <p:cNvSpPr/>
          <p:nvPr/>
        </p:nvSpPr>
        <p:spPr>
          <a:xfrm>
            <a:off x="6720840" y="3081528"/>
            <a:ext cx="365760" cy="365760"/>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rPr>
              <a:t>!</a:t>
            </a:r>
          </a:p>
        </p:txBody>
      </p:sp>
      <p:sp>
        <p:nvSpPr>
          <p:cNvPr id="16" name="TextBox 15"/>
          <p:cNvSpPr txBox="1"/>
          <p:nvPr/>
        </p:nvSpPr>
        <p:spPr>
          <a:xfrm>
            <a:off x="7242048" y="3054096"/>
            <a:ext cx="4297680" cy="292608"/>
          </a:xfrm>
          <a:prstGeom prst="rect">
            <a:avLst/>
          </a:prstGeom>
          <a:noFill/>
        </p:spPr>
        <p:txBody>
          <a:bodyPr wrap="square" anchor="t" lIns="0" rIns="0" tIns="0" bIns="0">
            <a:spAutoFit/>
          </a:bodyPr>
          <a:lstStyle/>
          <a:p>
            <a:pPr algn="l">
              <a:lnSpc>
                <a:spcPct val="100000"/>
              </a:lnSpc>
              <a:spcAft>
                <a:spcPts val="0"/>
              </a:spcAft>
            </a:pPr>
            <a:r>
              <a:rPr sz="1250" b="1" i="0">
                <a:solidFill>
                  <a:srgbClr val="1B4332"/>
                </a:solidFill>
                <a:latin typeface="Calibri"/>
              </a:rPr>
              <a:t>Late disease detection</a:t>
            </a:r>
          </a:p>
        </p:txBody>
      </p:sp>
      <p:sp>
        <p:nvSpPr>
          <p:cNvPr id="17" name="TextBox 16"/>
          <p:cNvSpPr txBox="1"/>
          <p:nvPr/>
        </p:nvSpPr>
        <p:spPr>
          <a:xfrm>
            <a:off x="7242048" y="3346704"/>
            <a:ext cx="4297680" cy="566928"/>
          </a:xfrm>
          <a:prstGeom prst="rect">
            <a:avLst/>
          </a:prstGeom>
          <a:noFill/>
        </p:spPr>
        <p:txBody>
          <a:bodyPr wrap="square" anchor="t" lIns="0" rIns="0" tIns="0" bIns="0">
            <a:spAutoFit/>
          </a:bodyPr>
          <a:lstStyle/>
          <a:p>
            <a:pPr algn="l">
              <a:lnSpc>
                <a:spcPct val="110000"/>
              </a:lnSpc>
              <a:spcAft>
                <a:spcPts val="0"/>
              </a:spcAft>
            </a:pPr>
            <a:r>
              <a:rPr sz="1050" b="0" i="0">
                <a:solidFill>
                  <a:srgbClr val="5B6B73"/>
                </a:solidFill>
                <a:latin typeface="Calibri"/>
              </a:rPr>
              <a:t>By the time symptoms are obvious to the eye, a treatable disease may already be unmanageable.</a:t>
            </a:r>
          </a:p>
        </p:txBody>
      </p:sp>
      <p:sp>
        <p:nvSpPr>
          <p:cNvPr id="18" name="Oval 17"/>
          <p:cNvSpPr/>
          <p:nvPr/>
        </p:nvSpPr>
        <p:spPr>
          <a:xfrm>
            <a:off x="6720840" y="4014216"/>
            <a:ext cx="365760" cy="365760"/>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rPr>
              <a:t>!</a:t>
            </a:r>
          </a:p>
        </p:txBody>
      </p:sp>
      <p:sp>
        <p:nvSpPr>
          <p:cNvPr id="19" name="TextBox 18"/>
          <p:cNvSpPr txBox="1"/>
          <p:nvPr/>
        </p:nvSpPr>
        <p:spPr>
          <a:xfrm>
            <a:off x="7242048" y="3986784"/>
            <a:ext cx="4297680" cy="292608"/>
          </a:xfrm>
          <a:prstGeom prst="rect">
            <a:avLst/>
          </a:prstGeom>
          <a:noFill/>
        </p:spPr>
        <p:txBody>
          <a:bodyPr wrap="square" anchor="t" lIns="0" rIns="0" tIns="0" bIns="0">
            <a:spAutoFit/>
          </a:bodyPr>
          <a:lstStyle/>
          <a:p>
            <a:pPr algn="l">
              <a:lnSpc>
                <a:spcPct val="100000"/>
              </a:lnSpc>
              <a:spcAft>
                <a:spcPts val="0"/>
              </a:spcAft>
            </a:pPr>
            <a:r>
              <a:rPr sz="1250" b="1" i="0">
                <a:solidFill>
                  <a:srgbClr val="1B4332"/>
                </a:solidFill>
                <a:latin typeface="Calibri"/>
              </a:rPr>
              <a:t>No remedy guidance</a:t>
            </a:r>
          </a:p>
        </p:txBody>
      </p:sp>
      <p:sp>
        <p:nvSpPr>
          <p:cNvPr id="20" name="TextBox 19"/>
          <p:cNvSpPr txBox="1"/>
          <p:nvPr/>
        </p:nvSpPr>
        <p:spPr>
          <a:xfrm>
            <a:off x="7242048" y="4279392"/>
            <a:ext cx="4297680" cy="566928"/>
          </a:xfrm>
          <a:prstGeom prst="rect">
            <a:avLst/>
          </a:prstGeom>
          <a:noFill/>
        </p:spPr>
        <p:txBody>
          <a:bodyPr wrap="square" anchor="t" lIns="0" rIns="0" tIns="0" bIns="0">
            <a:spAutoFit/>
          </a:bodyPr>
          <a:lstStyle/>
          <a:p>
            <a:pPr algn="l">
              <a:lnSpc>
                <a:spcPct val="110000"/>
              </a:lnSpc>
              <a:spcAft>
                <a:spcPts val="0"/>
              </a:spcAft>
            </a:pPr>
            <a:r>
              <a:rPr sz="1050" b="0" i="0">
                <a:solidFill>
                  <a:srgbClr val="5B6B73"/>
                </a:solidFill>
                <a:latin typeface="Calibri"/>
              </a:rPr>
              <a:t>Knowing the disease name alone isn't enough — farmers need to know exactly what to apply and when.</a:t>
            </a:r>
          </a:p>
        </p:txBody>
      </p:sp>
      <p:sp>
        <p:nvSpPr>
          <p:cNvPr id="21" name="Oval 20"/>
          <p:cNvSpPr/>
          <p:nvPr/>
        </p:nvSpPr>
        <p:spPr>
          <a:xfrm>
            <a:off x="6720840" y="4946904"/>
            <a:ext cx="365760" cy="365760"/>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rPr>
              <a:t>!</a:t>
            </a:r>
          </a:p>
        </p:txBody>
      </p:sp>
      <p:sp>
        <p:nvSpPr>
          <p:cNvPr id="22" name="TextBox 21"/>
          <p:cNvSpPr txBox="1"/>
          <p:nvPr/>
        </p:nvSpPr>
        <p:spPr>
          <a:xfrm>
            <a:off x="7242048" y="4919472"/>
            <a:ext cx="4297680" cy="292608"/>
          </a:xfrm>
          <a:prstGeom prst="rect">
            <a:avLst/>
          </a:prstGeom>
          <a:noFill/>
        </p:spPr>
        <p:txBody>
          <a:bodyPr wrap="square" anchor="t" lIns="0" rIns="0" tIns="0" bIns="0">
            <a:spAutoFit/>
          </a:bodyPr>
          <a:lstStyle/>
          <a:p>
            <a:pPr algn="l">
              <a:lnSpc>
                <a:spcPct val="100000"/>
              </a:lnSpc>
              <a:spcAft>
                <a:spcPts val="0"/>
              </a:spcAft>
            </a:pPr>
            <a:r>
              <a:rPr sz="1250" b="1" i="0">
                <a:solidFill>
                  <a:srgbClr val="1B4332"/>
                </a:solidFill>
                <a:latin typeface="Calibri"/>
              </a:rPr>
              <a:t>Unrecognized disease</a:t>
            </a:r>
          </a:p>
        </p:txBody>
      </p:sp>
      <p:sp>
        <p:nvSpPr>
          <p:cNvPr id="23" name="TextBox 22"/>
          <p:cNvSpPr txBox="1"/>
          <p:nvPr/>
        </p:nvSpPr>
        <p:spPr>
          <a:xfrm>
            <a:off x="7242048" y="5212080"/>
            <a:ext cx="4297680" cy="566928"/>
          </a:xfrm>
          <a:prstGeom prst="rect">
            <a:avLst/>
          </a:prstGeom>
          <a:noFill/>
        </p:spPr>
        <p:txBody>
          <a:bodyPr wrap="square" anchor="t" lIns="0" rIns="0" tIns="0" bIns="0">
            <a:spAutoFit/>
          </a:bodyPr>
          <a:lstStyle/>
          <a:p>
            <a:pPr algn="l">
              <a:lnSpc>
                <a:spcPct val="110000"/>
              </a:lnSpc>
              <a:spcAft>
                <a:spcPts val="0"/>
              </a:spcAft>
            </a:pPr>
            <a:r>
              <a:rPr sz="1050" b="0" i="0">
                <a:solidFill>
                  <a:srgbClr val="5B6B73"/>
                </a:solidFill>
                <a:latin typeface="Calibri"/>
              </a:rPr>
              <a:t>A new disease strain gets force-fit into a known category, leading to the wrong treatment being applied.</a:t>
            </a:r>
          </a:p>
        </p:txBody>
      </p:sp>
      <p:sp>
        <p:nvSpPr>
          <p:cNvPr id="24" name="TextBox 23"/>
          <p:cNvSpPr txBox="1"/>
          <p:nvPr/>
        </p:nvSpPr>
        <p:spPr>
          <a:xfrm>
            <a:off x="11475720" y="6528816"/>
            <a:ext cx="548640" cy="256032"/>
          </a:xfrm>
          <a:prstGeom prst="rect">
            <a:avLst/>
          </a:prstGeom>
          <a:noFill/>
        </p:spPr>
        <p:txBody>
          <a:bodyPr wrap="square" anchor="t" lIns="0" rIns="0" tIns="0" bIns="0">
            <a:spAutoFit/>
          </a:bodyPr>
          <a:lstStyle/>
          <a:p>
            <a:pPr algn="r">
              <a:lnSpc>
                <a:spcPct val="100000"/>
              </a:lnSpc>
              <a:spcAft>
                <a:spcPts val="0"/>
              </a:spcAft>
            </a:pPr>
            <a:r>
              <a:rPr sz="850" b="0" i="0">
                <a:solidFill>
                  <a:srgbClr val="5B6B73"/>
                </a:solidFill>
                <a:latin typeface="Calibri"/>
              </a:rPr>
              <a:t>02 /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7315200" cy="292608"/>
          </a:xfrm>
          <a:prstGeom prst="rect">
            <a:avLst/>
          </a:prstGeom>
          <a:noFill/>
        </p:spPr>
        <p:txBody>
          <a:bodyPr wrap="square" anchor="t" lIns="0" rIns="0" tIns="0" bIns="0">
            <a:spAutoFit/>
          </a:bodyPr>
          <a:lstStyle/>
          <a:p>
            <a:pPr algn="l">
              <a:lnSpc>
                <a:spcPct val="100000"/>
              </a:lnSpc>
              <a:spcAft>
                <a:spcPts val="0"/>
              </a:spcAft>
            </a:pPr>
            <a:r>
              <a:rPr sz="1200" b="1" i="0">
                <a:solidFill>
                  <a:srgbClr val="2E7D32"/>
                </a:solidFill>
                <a:latin typeface="Calibri"/>
              </a:rPr>
              <a:t>PROJECT GOALS</a:t>
            </a:r>
          </a:p>
        </p:txBody>
      </p:sp>
      <p:sp>
        <p:nvSpPr>
          <p:cNvPr id="5" name="TextBox 4"/>
          <p:cNvSpPr txBox="1"/>
          <p:nvPr/>
        </p:nvSpPr>
        <p:spPr>
          <a:xfrm>
            <a:off x="502920" y="548640"/>
            <a:ext cx="10607040" cy="621792"/>
          </a:xfrm>
          <a:prstGeom prst="rect">
            <a:avLst/>
          </a:prstGeom>
          <a:noFill/>
        </p:spPr>
        <p:txBody>
          <a:bodyPr wrap="square" anchor="t" lIns="0" rIns="0" tIns="0" bIns="0">
            <a:spAutoFit/>
          </a:bodyPr>
          <a:lstStyle/>
          <a:p>
            <a:pPr algn="l">
              <a:lnSpc>
                <a:spcPct val="100000"/>
              </a:lnSpc>
              <a:spcAft>
                <a:spcPts val="0"/>
              </a:spcAft>
            </a:pPr>
            <a:r>
              <a:rPr sz="2600" b="1" i="0">
                <a:solidFill>
                  <a:srgbClr val="1B4332"/>
                </a:solidFill>
                <a:latin typeface="Calibri"/>
              </a:rPr>
              <a:t>Objectives</a:t>
            </a:r>
          </a:p>
        </p:txBody>
      </p:sp>
      <p:sp>
        <p:nvSpPr>
          <p:cNvPr id="6" name="Rectangle 5"/>
          <p:cNvSpPr/>
          <p:nvPr/>
        </p:nvSpPr>
        <p:spPr>
          <a:xfrm>
            <a:off x="502920" y="1170432"/>
            <a:ext cx="1005840" cy="381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spcAft>
                <a:spcPts val="0"/>
              </a:spcAft>
            </a:pPr>
            <a:r>
              <a:rPr sz="850" b="0" i="0">
                <a:solidFill>
                  <a:srgbClr val="5B6B73"/>
                </a:solidFill>
                <a:latin typeface="Calibri"/>
              </a:rPr>
              <a:t>Crop Recommendation &amp; Disease Detection System</a:t>
            </a:r>
          </a:p>
        </p:txBody>
      </p:sp>
      <p:sp>
        <p:nvSpPr>
          <p:cNvPr id="8" name="Rounded Rectangle 7"/>
          <p:cNvSpPr/>
          <p:nvPr/>
        </p:nvSpPr>
        <p:spPr>
          <a:xfrm>
            <a:off x="502920" y="1508760"/>
            <a:ext cx="2670048" cy="4434840"/>
          </a:xfrm>
          <a:prstGeom prst="roundRect">
            <a:avLst>
              <a:gd name="adj" fmla="val 6000"/>
            </a:avLst>
          </a:prstGeom>
          <a:solidFill>
            <a:srgbClr val="FFFFFF"/>
          </a:solidFill>
          <a:ln w="15875">
            <a:solidFill>
              <a:srgbClr val="DCE6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508760"/>
            <a:ext cx="2670048" cy="914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40664" y="1801368"/>
            <a:ext cx="621792" cy="621792"/>
          </a:xfrm>
          <a:prstGeom prst="ellipse">
            <a:avLst/>
          </a:prstGeom>
          <a:solidFill>
            <a:srgbClr val="EA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200" b="1">
                <a:solidFill>
                  <a:srgbClr val="1B4332"/>
                </a:solidFill>
              </a:rPr>
              <a:t>⌘</a:t>
            </a:r>
          </a:p>
        </p:txBody>
      </p:sp>
      <p:sp>
        <p:nvSpPr>
          <p:cNvPr id="11" name="TextBox 10"/>
          <p:cNvSpPr txBox="1"/>
          <p:nvPr/>
        </p:nvSpPr>
        <p:spPr>
          <a:xfrm>
            <a:off x="704088" y="2560320"/>
            <a:ext cx="2267712" cy="777240"/>
          </a:xfrm>
          <a:prstGeom prst="rect">
            <a:avLst/>
          </a:prstGeom>
          <a:noFill/>
        </p:spPr>
        <p:txBody>
          <a:bodyPr wrap="square" anchor="t" lIns="0" rIns="0" tIns="0" bIns="0">
            <a:spAutoFit/>
          </a:bodyPr>
          <a:lstStyle/>
          <a:p>
            <a:pPr algn="l">
              <a:lnSpc>
                <a:spcPct val="105000"/>
              </a:lnSpc>
              <a:spcAft>
                <a:spcPts val="0"/>
              </a:spcAft>
            </a:pPr>
            <a:r>
              <a:rPr sz="1450" b="1" i="0">
                <a:solidFill>
                  <a:srgbClr val="1B4332"/>
                </a:solidFill>
                <a:latin typeface="Calibri"/>
              </a:rPr>
              <a:t>Recommend the Right Crop</a:t>
            </a:r>
          </a:p>
        </p:txBody>
      </p:sp>
      <p:sp>
        <p:nvSpPr>
          <p:cNvPr id="12" name="TextBox 11"/>
          <p:cNvSpPr txBox="1"/>
          <p:nvPr/>
        </p:nvSpPr>
        <p:spPr>
          <a:xfrm>
            <a:off x="704088" y="3291840"/>
            <a:ext cx="2267712" cy="1874519"/>
          </a:xfrm>
          <a:prstGeom prst="rect">
            <a:avLst/>
          </a:prstGeom>
          <a:noFill/>
        </p:spPr>
        <p:txBody>
          <a:bodyPr wrap="square" anchor="t" lIns="0" rIns="0" tIns="0" bIns="0">
            <a:spAutoFit/>
          </a:bodyPr>
          <a:lstStyle/>
          <a:p>
            <a:pPr algn="l">
              <a:lnSpc>
                <a:spcPct val="120000"/>
              </a:lnSpc>
              <a:spcAft>
                <a:spcPts val="0"/>
              </a:spcAft>
            </a:pPr>
            <a:r>
              <a:rPr sz="1150" b="0" i="0">
                <a:solidFill>
                  <a:srgbClr val="5B6B73"/>
                </a:solidFill>
                <a:latin typeface="Calibri"/>
              </a:rPr>
              <a:t>Predict the most suitable crop from soil nutrients (N, P, K) and climate data using a trained ML model.</a:t>
            </a:r>
          </a:p>
        </p:txBody>
      </p:sp>
      <p:sp>
        <p:nvSpPr>
          <p:cNvPr id="13" name="Rectangle 12"/>
          <p:cNvSpPr/>
          <p:nvPr/>
        </p:nvSpPr>
        <p:spPr>
          <a:xfrm>
            <a:off x="704088" y="5184647"/>
            <a:ext cx="2267712" cy="12700"/>
          </a:xfrm>
          <a:prstGeom prst="rect">
            <a:avLst/>
          </a:prstGeom>
          <a:solidFill>
            <a:srgbClr val="DCE6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088" y="5285232"/>
            <a:ext cx="2267712" cy="594360"/>
          </a:xfrm>
          <a:prstGeom prst="rect">
            <a:avLst/>
          </a:prstGeom>
          <a:noFill/>
        </p:spPr>
        <p:txBody>
          <a:bodyPr wrap="square" anchor="t" lIns="0" rIns="0" tIns="0" bIns="0">
            <a:spAutoFit/>
          </a:bodyPr>
          <a:lstStyle/>
          <a:p>
            <a:pPr algn="l">
              <a:lnSpc>
                <a:spcPct val="110000"/>
              </a:lnSpc>
              <a:spcAft>
                <a:spcPts val="0"/>
              </a:spcAft>
            </a:pPr>
            <a:r>
              <a:rPr sz="1000" b="1" i="1">
                <a:solidFill>
                  <a:srgbClr val="2E7D32"/>
                </a:solidFill>
                <a:latin typeface="Calibri"/>
              </a:rPr>
              <a:t>Also tunes advice for the Kokan region's soil type.</a:t>
            </a:r>
          </a:p>
        </p:txBody>
      </p:sp>
      <p:sp>
        <p:nvSpPr>
          <p:cNvPr id="15" name="Rounded Rectangle 14"/>
          <p:cNvSpPr/>
          <p:nvPr/>
        </p:nvSpPr>
        <p:spPr>
          <a:xfrm>
            <a:off x="3337560" y="1508760"/>
            <a:ext cx="2670048" cy="4434840"/>
          </a:xfrm>
          <a:prstGeom prst="roundRect">
            <a:avLst>
              <a:gd name="adj" fmla="val 6000"/>
            </a:avLst>
          </a:prstGeom>
          <a:solidFill>
            <a:srgbClr val="FFFFFF"/>
          </a:solidFill>
          <a:ln w="15875">
            <a:solidFill>
              <a:srgbClr val="DCE6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37560" y="1508760"/>
            <a:ext cx="2670048" cy="9144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575304" y="1801368"/>
            <a:ext cx="621792" cy="621792"/>
          </a:xfrm>
          <a:prstGeom prst="ellipse">
            <a:avLst/>
          </a:prstGeom>
          <a:solidFill>
            <a:srgbClr val="EA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200" b="1">
                <a:solidFill>
                  <a:srgbClr val="1B4332"/>
                </a:solidFill>
              </a:rPr>
              <a:t>✧</a:t>
            </a:r>
          </a:p>
        </p:txBody>
      </p:sp>
      <p:sp>
        <p:nvSpPr>
          <p:cNvPr id="18" name="TextBox 17"/>
          <p:cNvSpPr txBox="1"/>
          <p:nvPr/>
        </p:nvSpPr>
        <p:spPr>
          <a:xfrm>
            <a:off x="3538728" y="2560320"/>
            <a:ext cx="2267712" cy="777240"/>
          </a:xfrm>
          <a:prstGeom prst="rect">
            <a:avLst/>
          </a:prstGeom>
          <a:noFill/>
        </p:spPr>
        <p:txBody>
          <a:bodyPr wrap="square" anchor="t" lIns="0" rIns="0" tIns="0" bIns="0">
            <a:spAutoFit/>
          </a:bodyPr>
          <a:lstStyle/>
          <a:p>
            <a:pPr algn="l">
              <a:lnSpc>
                <a:spcPct val="105000"/>
              </a:lnSpc>
              <a:spcAft>
                <a:spcPts val="0"/>
              </a:spcAft>
            </a:pPr>
            <a:r>
              <a:rPr sz="1450" b="1" i="0">
                <a:solidFill>
                  <a:srgbClr val="1B4332"/>
                </a:solidFill>
                <a:latin typeface="Calibri"/>
              </a:rPr>
              <a:t>Detect Crop Disease</a:t>
            </a:r>
          </a:p>
        </p:txBody>
      </p:sp>
      <p:sp>
        <p:nvSpPr>
          <p:cNvPr id="19" name="TextBox 18"/>
          <p:cNvSpPr txBox="1"/>
          <p:nvPr/>
        </p:nvSpPr>
        <p:spPr>
          <a:xfrm>
            <a:off x="3538728" y="3291840"/>
            <a:ext cx="2267712" cy="1874519"/>
          </a:xfrm>
          <a:prstGeom prst="rect">
            <a:avLst/>
          </a:prstGeom>
          <a:noFill/>
        </p:spPr>
        <p:txBody>
          <a:bodyPr wrap="square" anchor="t" lIns="0" rIns="0" tIns="0" bIns="0">
            <a:spAutoFit/>
          </a:bodyPr>
          <a:lstStyle/>
          <a:p>
            <a:pPr algn="l">
              <a:lnSpc>
                <a:spcPct val="120000"/>
              </a:lnSpc>
              <a:spcAft>
                <a:spcPts val="0"/>
              </a:spcAft>
            </a:pPr>
            <a:r>
              <a:rPr sz="1150" b="0" i="0">
                <a:solidFill>
                  <a:srgbClr val="5B6B73"/>
                </a:solidFill>
                <a:latin typeface="Calibri"/>
              </a:rPr>
              <a:t>Diagnose disease from a leaf photo using a CNN, and suggest a practical, actionable treatment.</a:t>
            </a:r>
          </a:p>
        </p:txBody>
      </p:sp>
      <p:sp>
        <p:nvSpPr>
          <p:cNvPr id="20" name="Rectangle 19"/>
          <p:cNvSpPr/>
          <p:nvPr/>
        </p:nvSpPr>
        <p:spPr>
          <a:xfrm>
            <a:off x="3538728" y="5184647"/>
            <a:ext cx="2267712" cy="12700"/>
          </a:xfrm>
          <a:prstGeom prst="rect">
            <a:avLst/>
          </a:prstGeom>
          <a:solidFill>
            <a:srgbClr val="DCE6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38728" y="5285232"/>
            <a:ext cx="2267712" cy="594360"/>
          </a:xfrm>
          <a:prstGeom prst="rect">
            <a:avLst/>
          </a:prstGeom>
          <a:noFill/>
        </p:spPr>
        <p:txBody>
          <a:bodyPr wrap="square" anchor="t" lIns="0" rIns="0" tIns="0" bIns="0">
            <a:spAutoFit/>
          </a:bodyPr>
          <a:lstStyle/>
          <a:p>
            <a:pPr algn="l">
              <a:lnSpc>
                <a:spcPct val="110000"/>
              </a:lnSpc>
              <a:spcAft>
                <a:spcPts val="0"/>
              </a:spcAft>
            </a:pPr>
            <a:r>
              <a:rPr sz="1000" b="1" i="1">
                <a:solidFill>
                  <a:srgbClr val="2E7D32"/>
                </a:solidFill>
                <a:latin typeface="Calibri"/>
              </a:rPr>
              <a:t>Covers 31 diseases across 6 major crops.</a:t>
            </a:r>
          </a:p>
        </p:txBody>
      </p:sp>
      <p:sp>
        <p:nvSpPr>
          <p:cNvPr id="22" name="Rounded Rectangle 21"/>
          <p:cNvSpPr/>
          <p:nvPr/>
        </p:nvSpPr>
        <p:spPr>
          <a:xfrm>
            <a:off x="6172200" y="1508760"/>
            <a:ext cx="2670048" cy="4434840"/>
          </a:xfrm>
          <a:prstGeom prst="roundRect">
            <a:avLst>
              <a:gd name="adj" fmla="val 6000"/>
            </a:avLst>
          </a:prstGeom>
          <a:solidFill>
            <a:srgbClr val="FFFFFF"/>
          </a:solidFill>
          <a:ln w="15875">
            <a:solidFill>
              <a:srgbClr val="DCE6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2200" y="1508760"/>
            <a:ext cx="2670048" cy="914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09944" y="1801368"/>
            <a:ext cx="621792" cy="621792"/>
          </a:xfrm>
          <a:prstGeom prst="ellipse">
            <a:avLst/>
          </a:prstGeom>
          <a:solidFill>
            <a:srgbClr val="EA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200" b="1">
                <a:solidFill>
                  <a:srgbClr val="1B4332"/>
                </a:solidFill>
              </a:rPr>
              <a:t>⛈</a:t>
            </a:r>
          </a:p>
        </p:txBody>
      </p:sp>
      <p:sp>
        <p:nvSpPr>
          <p:cNvPr id="25" name="TextBox 24"/>
          <p:cNvSpPr txBox="1"/>
          <p:nvPr/>
        </p:nvSpPr>
        <p:spPr>
          <a:xfrm>
            <a:off x="6373368" y="2560320"/>
            <a:ext cx="2267712" cy="777240"/>
          </a:xfrm>
          <a:prstGeom prst="rect">
            <a:avLst/>
          </a:prstGeom>
          <a:noFill/>
        </p:spPr>
        <p:txBody>
          <a:bodyPr wrap="square" anchor="t" lIns="0" rIns="0" tIns="0" bIns="0">
            <a:spAutoFit/>
          </a:bodyPr>
          <a:lstStyle/>
          <a:p>
            <a:pPr algn="l">
              <a:lnSpc>
                <a:spcPct val="105000"/>
              </a:lnSpc>
              <a:spcAft>
                <a:spcPts val="0"/>
              </a:spcAft>
            </a:pPr>
            <a:r>
              <a:rPr sz="1450" b="1" i="0">
                <a:solidFill>
                  <a:srgbClr val="1B4332"/>
                </a:solidFill>
                <a:latin typeface="Calibri"/>
              </a:rPr>
              <a:t>Forecast Disease Risk</a:t>
            </a:r>
          </a:p>
        </p:txBody>
      </p:sp>
      <p:sp>
        <p:nvSpPr>
          <p:cNvPr id="26" name="TextBox 25"/>
          <p:cNvSpPr txBox="1"/>
          <p:nvPr/>
        </p:nvSpPr>
        <p:spPr>
          <a:xfrm>
            <a:off x="6373368" y="3291840"/>
            <a:ext cx="2267712" cy="1874519"/>
          </a:xfrm>
          <a:prstGeom prst="rect">
            <a:avLst/>
          </a:prstGeom>
          <a:noFill/>
        </p:spPr>
        <p:txBody>
          <a:bodyPr wrap="square" anchor="t" lIns="0" rIns="0" tIns="0" bIns="0">
            <a:spAutoFit/>
          </a:bodyPr>
          <a:lstStyle/>
          <a:p>
            <a:pPr algn="l">
              <a:lnSpc>
                <a:spcPct val="120000"/>
              </a:lnSpc>
              <a:spcAft>
                <a:spcPts val="0"/>
              </a:spcAft>
            </a:pPr>
            <a:r>
              <a:rPr sz="1150" b="0" i="0">
                <a:solidFill>
                  <a:srgbClr val="5B6B73"/>
                </a:solidFill>
                <a:latin typeface="Calibri"/>
              </a:rPr>
              <a:t>Use current weather conditions to warn farmers about disease risk before symptoms even appear.</a:t>
            </a:r>
          </a:p>
        </p:txBody>
      </p:sp>
      <p:sp>
        <p:nvSpPr>
          <p:cNvPr id="27" name="Rectangle 26"/>
          <p:cNvSpPr/>
          <p:nvPr/>
        </p:nvSpPr>
        <p:spPr>
          <a:xfrm>
            <a:off x="6373368" y="5184647"/>
            <a:ext cx="2267712" cy="12700"/>
          </a:xfrm>
          <a:prstGeom prst="rect">
            <a:avLst/>
          </a:prstGeom>
          <a:solidFill>
            <a:srgbClr val="DCE6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3368" y="5285232"/>
            <a:ext cx="2267712" cy="594360"/>
          </a:xfrm>
          <a:prstGeom prst="rect">
            <a:avLst/>
          </a:prstGeom>
          <a:noFill/>
        </p:spPr>
        <p:txBody>
          <a:bodyPr wrap="square" anchor="t" lIns="0" rIns="0" tIns="0" bIns="0">
            <a:spAutoFit/>
          </a:bodyPr>
          <a:lstStyle/>
          <a:p>
            <a:pPr algn="l">
              <a:lnSpc>
                <a:spcPct val="110000"/>
              </a:lnSpc>
              <a:spcAft>
                <a:spcPts val="0"/>
              </a:spcAft>
            </a:pPr>
            <a:r>
              <a:rPr sz="1000" b="1" i="1">
                <a:solidFill>
                  <a:srgbClr val="2E7D32"/>
                </a:solidFill>
                <a:latin typeface="Calibri"/>
              </a:rPr>
              <a:t>Based on humidity, temperature &amp; rainfall.</a:t>
            </a:r>
          </a:p>
        </p:txBody>
      </p:sp>
      <p:sp>
        <p:nvSpPr>
          <p:cNvPr id="29" name="Rounded Rectangle 28"/>
          <p:cNvSpPr/>
          <p:nvPr/>
        </p:nvSpPr>
        <p:spPr>
          <a:xfrm>
            <a:off x="9006840" y="1508760"/>
            <a:ext cx="2670048" cy="4434840"/>
          </a:xfrm>
          <a:prstGeom prst="roundRect">
            <a:avLst>
              <a:gd name="adj" fmla="val 6000"/>
            </a:avLst>
          </a:prstGeom>
          <a:solidFill>
            <a:srgbClr val="FFFFFF"/>
          </a:solidFill>
          <a:ln w="15875">
            <a:solidFill>
              <a:srgbClr val="DCE6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006840" y="1508760"/>
            <a:ext cx="2670048" cy="9144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9244584" y="1801368"/>
            <a:ext cx="621792" cy="621792"/>
          </a:xfrm>
          <a:prstGeom prst="ellipse">
            <a:avLst/>
          </a:prstGeom>
          <a:solidFill>
            <a:srgbClr val="EA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200" b="1">
                <a:solidFill>
                  <a:srgbClr val="1B4332"/>
                </a:solidFill>
              </a:rPr>
              <a:t>?</a:t>
            </a:r>
          </a:p>
        </p:txBody>
      </p:sp>
      <p:sp>
        <p:nvSpPr>
          <p:cNvPr id="32" name="TextBox 31"/>
          <p:cNvSpPr txBox="1"/>
          <p:nvPr/>
        </p:nvSpPr>
        <p:spPr>
          <a:xfrm>
            <a:off x="9208008" y="2560320"/>
            <a:ext cx="2267712" cy="777240"/>
          </a:xfrm>
          <a:prstGeom prst="rect">
            <a:avLst/>
          </a:prstGeom>
          <a:noFill/>
        </p:spPr>
        <p:txBody>
          <a:bodyPr wrap="square" anchor="t" lIns="0" rIns="0" tIns="0" bIns="0">
            <a:spAutoFit/>
          </a:bodyPr>
          <a:lstStyle/>
          <a:p>
            <a:pPr algn="l">
              <a:lnSpc>
                <a:spcPct val="105000"/>
              </a:lnSpc>
              <a:spcAft>
                <a:spcPts val="0"/>
              </a:spcAft>
            </a:pPr>
            <a:r>
              <a:rPr sz="1450" b="1" i="0">
                <a:solidFill>
                  <a:srgbClr val="1B4332"/>
                </a:solidFill>
                <a:latin typeface="Calibri"/>
              </a:rPr>
              <a:t>Handle the Unknown</a:t>
            </a:r>
          </a:p>
        </p:txBody>
      </p:sp>
      <p:sp>
        <p:nvSpPr>
          <p:cNvPr id="33" name="TextBox 32"/>
          <p:cNvSpPr txBox="1"/>
          <p:nvPr/>
        </p:nvSpPr>
        <p:spPr>
          <a:xfrm>
            <a:off x="9208008" y="3291840"/>
            <a:ext cx="2267712" cy="1874519"/>
          </a:xfrm>
          <a:prstGeom prst="rect">
            <a:avLst/>
          </a:prstGeom>
          <a:noFill/>
        </p:spPr>
        <p:txBody>
          <a:bodyPr wrap="square" anchor="t" lIns="0" rIns="0" tIns="0" bIns="0">
            <a:spAutoFit/>
          </a:bodyPr>
          <a:lstStyle/>
          <a:p>
            <a:pPr algn="l">
              <a:lnSpc>
                <a:spcPct val="120000"/>
              </a:lnSpc>
              <a:spcAft>
                <a:spcPts val="0"/>
              </a:spcAft>
            </a:pPr>
            <a:r>
              <a:rPr sz="1150" b="0" i="0">
                <a:solidFill>
                  <a:srgbClr val="5B6B73"/>
                </a:solidFill>
                <a:latin typeface="Calibri"/>
              </a:rPr>
              <a:t>Flag low-confidence predictions instead of guessing, and learn from user feedback over time.</a:t>
            </a:r>
          </a:p>
        </p:txBody>
      </p:sp>
      <p:sp>
        <p:nvSpPr>
          <p:cNvPr id="34" name="Rectangle 33"/>
          <p:cNvSpPr/>
          <p:nvPr/>
        </p:nvSpPr>
        <p:spPr>
          <a:xfrm>
            <a:off x="9208008" y="5184647"/>
            <a:ext cx="2267712" cy="12700"/>
          </a:xfrm>
          <a:prstGeom prst="rect">
            <a:avLst/>
          </a:prstGeom>
          <a:solidFill>
            <a:srgbClr val="DCE6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208008" y="5285232"/>
            <a:ext cx="2267712" cy="594360"/>
          </a:xfrm>
          <a:prstGeom prst="rect">
            <a:avLst/>
          </a:prstGeom>
          <a:noFill/>
        </p:spPr>
        <p:txBody>
          <a:bodyPr wrap="square" anchor="t" lIns="0" rIns="0" tIns="0" bIns="0">
            <a:spAutoFit/>
          </a:bodyPr>
          <a:lstStyle/>
          <a:p>
            <a:pPr algn="l">
              <a:lnSpc>
                <a:spcPct val="110000"/>
              </a:lnSpc>
              <a:spcAft>
                <a:spcPts val="0"/>
              </a:spcAft>
            </a:pPr>
            <a:r>
              <a:rPr sz="1000" b="1" i="1">
                <a:solidFill>
                  <a:srgbClr val="2E7D32"/>
                </a:solidFill>
                <a:latin typeface="Calibri"/>
              </a:rPr>
              <a:t>Builds a dataset for future retraining.</a:t>
            </a:r>
          </a:p>
        </p:txBody>
      </p:sp>
      <p:sp>
        <p:nvSpPr>
          <p:cNvPr id="36" name="TextBox 35"/>
          <p:cNvSpPr txBox="1"/>
          <p:nvPr/>
        </p:nvSpPr>
        <p:spPr>
          <a:xfrm>
            <a:off x="11475720" y="6528816"/>
            <a:ext cx="548640" cy="256032"/>
          </a:xfrm>
          <a:prstGeom prst="rect">
            <a:avLst/>
          </a:prstGeom>
          <a:noFill/>
        </p:spPr>
        <p:txBody>
          <a:bodyPr wrap="square" anchor="t" lIns="0" rIns="0" tIns="0" bIns="0">
            <a:spAutoFit/>
          </a:bodyPr>
          <a:lstStyle/>
          <a:p>
            <a:pPr algn="r">
              <a:lnSpc>
                <a:spcPct val="100000"/>
              </a:lnSpc>
              <a:spcAft>
                <a:spcPts val="0"/>
              </a:spcAft>
            </a:pPr>
            <a:r>
              <a:rPr sz="850" b="0" i="0">
                <a:solidFill>
                  <a:srgbClr val="5B6B73"/>
                </a:solidFill>
                <a:latin typeface="Calibri"/>
              </a:rPr>
              <a:t>03 /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7315200" cy="292608"/>
          </a:xfrm>
          <a:prstGeom prst="rect">
            <a:avLst/>
          </a:prstGeom>
          <a:noFill/>
        </p:spPr>
        <p:txBody>
          <a:bodyPr wrap="square" anchor="t" lIns="0" rIns="0" tIns="0" bIns="0">
            <a:spAutoFit/>
          </a:bodyPr>
          <a:lstStyle/>
          <a:p>
            <a:pPr algn="l">
              <a:lnSpc>
                <a:spcPct val="100000"/>
              </a:lnSpc>
              <a:spcAft>
                <a:spcPts val="0"/>
              </a:spcAft>
            </a:pPr>
            <a:r>
              <a:rPr sz="1200" b="1" i="0">
                <a:solidFill>
                  <a:srgbClr val="2E7D32"/>
                </a:solidFill>
                <a:latin typeface="Calibri"/>
              </a:rPr>
              <a:t>HOW IT ALL FITS TOGETHER</a:t>
            </a:r>
          </a:p>
        </p:txBody>
      </p:sp>
      <p:sp>
        <p:nvSpPr>
          <p:cNvPr id="5" name="TextBox 4"/>
          <p:cNvSpPr txBox="1"/>
          <p:nvPr/>
        </p:nvSpPr>
        <p:spPr>
          <a:xfrm>
            <a:off x="502920" y="548640"/>
            <a:ext cx="10607040" cy="621792"/>
          </a:xfrm>
          <a:prstGeom prst="rect">
            <a:avLst/>
          </a:prstGeom>
          <a:noFill/>
        </p:spPr>
        <p:txBody>
          <a:bodyPr wrap="square" anchor="t" lIns="0" rIns="0" tIns="0" bIns="0">
            <a:spAutoFit/>
          </a:bodyPr>
          <a:lstStyle/>
          <a:p>
            <a:pPr algn="l">
              <a:lnSpc>
                <a:spcPct val="100000"/>
              </a:lnSpc>
              <a:spcAft>
                <a:spcPts val="0"/>
              </a:spcAft>
            </a:pPr>
            <a:r>
              <a:rPr sz="2600" b="1" i="0">
                <a:solidFill>
                  <a:srgbClr val="1B4332"/>
                </a:solidFill>
                <a:latin typeface="Calibri"/>
              </a:rPr>
              <a:t>System Architecture</a:t>
            </a:r>
          </a:p>
        </p:txBody>
      </p:sp>
      <p:sp>
        <p:nvSpPr>
          <p:cNvPr id="6" name="Rectangle 5"/>
          <p:cNvSpPr/>
          <p:nvPr/>
        </p:nvSpPr>
        <p:spPr>
          <a:xfrm>
            <a:off x="502920" y="1170432"/>
            <a:ext cx="1005840" cy="381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spcAft>
                <a:spcPts val="0"/>
              </a:spcAft>
            </a:pPr>
            <a:r>
              <a:rPr sz="850" b="0" i="0">
                <a:solidFill>
                  <a:srgbClr val="5B6B73"/>
                </a:solidFill>
                <a:latin typeface="Calibri"/>
              </a:rPr>
              <a:t>Crop Recommendation &amp; Disease Detection System</a:t>
            </a:r>
          </a:p>
        </p:txBody>
      </p:sp>
      <p:sp>
        <p:nvSpPr>
          <p:cNvPr id="8" name="Rounded Rectangle 7"/>
          <p:cNvSpPr/>
          <p:nvPr/>
        </p:nvSpPr>
        <p:spPr>
          <a:xfrm>
            <a:off x="978408" y="1417320"/>
            <a:ext cx="10241280" cy="932688"/>
          </a:xfrm>
          <a:prstGeom prst="roundRect">
            <a:avLst>
              <a:gd name="adj" fmla="val 10000"/>
            </a:avLst>
          </a:prstGeom>
          <a:solidFill>
            <a:srgbClr val="EAF6EC"/>
          </a:solidFill>
          <a:ln w="15875">
            <a:solidFill>
              <a:srgbClr val="66BB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52728" y="1508760"/>
            <a:ext cx="3657600" cy="292608"/>
          </a:xfrm>
          <a:prstGeom prst="rect">
            <a:avLst/>
          </a:prstGeom>
          <a:noFill/>
        </p:spPr>
        <p:txBody>
          <a:bodyPr wrap="square" anchor="t" lIns="0" rIns="0" tIns="0" bIns="0">
            <a:spAutoFit/>
          </a:bodyPr>
          <a:lstStyle/>
          <a:p>
            <a:pPr algn="l">
              <a:lnSpc>
                <a:spcPct val="100000"/>
              </a:lnSpc>
              <a:spcAft>
                <a:spcPts val="0"/>
              </a:spcAft>
            </a:pPr>
            <a:r>
              <a:rPr sz="1400" b="1" i="0">
                <a:solidFill>
                  <a:srgbClr val="1B4332"/>
                </a:solidFill>
                <a:latin typeface="Calibri"/>
              </a:rPr>
              <a:t>Presentation Layer</a:t>
            </a:r>
          </a:p>
        </p:txBody>
      </p:sp>
      <p:sp>
        <p:nvSpPr>
          <p:cNvPr id="10" name="TextBox 9"/>
          <p:cNvSpPr txBox="1"/>
          <p:nvPr/>
        </p:nvSpPr>
        <p:spPr>
          <a:xfrm>
            <a:off x="1252728" y="1837944"/>
            <a:ext cx="9692640" cy="457200"/>
          </a:xfrm>
          <a:prstGeom prst="rect">
            <a:avLst/>
          </a:prstGeom>
          <a:noFill/>
        </p:spPr>
        <p:txBody>
          <a:bodyPr wrap="square" anchor="t" lIns="0" rIns="0" tIns="0" bIns="0">
            <a:spAutoFit/>
          </a:bodyPr>
          <a:lstStyle/>
          <a:p>
            <a:pPr algn="l">
              <a:lnSpc>
                <a:spcPct val="110000"/>
              </a:lnSpc>
              <a:spcAft>
                <a:spcPts val="0"/>
              </a:spcAft>
            </a:pPr>
            <a:r>
              <a:rPr sz="1050" b="0" i="0">
                <a:solidFill>
                  <a:srgbClr val="5B6B73"/>
                </a:solidFill>
                <a:latin typeface="Calibri"/>
              </a:rPr>
              <a:t>Login / Signup · Dashboard · Disease Detection · History / Profile  —  built with HTML, CSS, JavaScript and Jinja2 templates.</a:t>
            </a:r>
          </a:p>
        </p:txBody>
      </p:sp>
      <p:sp>
        <p:nvSpPr>
          <p:cNvPr id="11" name="Right Arrow 10"/>
          <p:cNvSpPr/>
          <p:nvPr/>
        </p:nvSpPr>
        <p:spPr>
          <a:xfrm rot="5400000">
            <a:off x="5952744" y="2350008"/>
            <a:ext cx="292608" cy="182880"/>
          </a:xfrm>
          <a:prstGeom prst="rightArrow">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78408" y="2532888"/>
            <a:ext cx="10241280" cy="932688"/>
          </a:xfrm>
          <a:prstGeom prst="roundRect">
            <a:avLst>
              <a:gd name="adj" fmla="val 10000"/>
            </a:avLst>
          </a:prstGeom>
          <a:solidFill>
            <a:srgbClr val="FFF8E1"/>
          </a:solidFill>
          <a:ln w="15875">
            <a:solidFill>
              <a:srgbClr val="F9A8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52728" y="2624328"/>
            <a:ext cx="3657600" cy="292608"/>
          </a:xfrm>
          <a:prstGeom prst="rect">
            <a:avLst/>
          </a:prstGeom>
          <a:noFill/>
        </p:spPr>
        <p:txBody>
          <a:bodyPr wrap="square" anchor="t" lIns="0" rIns="0" tIns="0" bIns="0">
            <a:spAutoFit/>
          </a:bodyPr>
          <a:lstStyle/>
          <a:p>
            <a:pPr algn="l">
              <a:lnSpc>
                <a:spcPct val="100000"/>
              </a:lnSpc>
              <a:spcAft>
                <a:spcPts val="0"/>
              </a:spcAft>
            </a:pPr>
            <a:r>
              <a:rPr sz="1400" b="1" i="0">
                <a:solidFill>
                  <a:srgbClr val="1B4332"/>
                </a:solidFill>
                <a:latin typeface="Calibri"/>
              </a:rPr>
              <a:t>Application Layer (Flask)</a:t>
            </a:r>
          </a:p>
        </p:txBody>
      </p:sp>
      <p:sp>
        <p:nvSpPr>
          <p:cNvPr id="14" name="TextBox 13"/>
          <p:cNvSpPr txBox="1"/>
          <p:nvPr/>
        </p:nvSpPr>
        <p:spPr>
          <a:xfrm>
            <a:off x="1252728" y="2953512"/>
            <a:ext cx="9692640" cy="457200"/>
          </a:xfrm>
          <a:prstGeom prst="rect">
            <a:avLst/>
          </a:prstGeom>
          <a:noFill/>
        </p:spPr>
        <p:txBody>
          <a:bodyPr wrap="square" anchor="t" lIns="0" rIns="0" tIns="0" bIns="0">
            <a:spAutoFit/>
          </a:bodyPr>
          <a:lstStyle/>
          <a:p>
            <a:pPr algn="l">
              <a:lnSpc>
                <a:spcPct val="110000"/>
              </a:lnSpc>
              <a:spcAft>
                <a:spcPts val="0"/>
              </a:spcAft>
            </a:pPr>
            <a:r>
              <a:rPr sz="1050" b="0" i="0">
                <a:solidFill>
                  <a:srgbClr val="5B6B73"/>
                </a:solidFill>
                <a:latin typeface="Calibri"/>
              </a:rPr>
              <a:t>Auth &amp; Session · Input Validation · Weather Service · Prediction Controller  —  the Python backend that ties every module together.</a:t>
            </a:r>
          </a:p>
        </p:txBody>
      </p:sp>
      <p:sp>
        <p:nvSpPr>
          <p:cNvPr id="15" name="Right Arrow 14"/>
          <p:cNvSpPr/>
          <p:nvPr/>
        </p:nvSpPr>
        <p:spPr>
          <a:xfrm rot="5400000">
            <a:off x="5952744" y="3465576"/>
            <a:ext cx="292608" cy="182880"/>
          </a:xfrm>
          <a:prstGeom prst="rightArrow">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78408" y="3648456"/>
            <a:ext cx="10241280" cy="932688"/>
          </a:xfrm>
          <a:prstGeom prst="roundRect">
            <a:avLst>
              <a:gd name="adj" fmla="val 10000"/>
            </a:avLst>
          </a:prstGeom>
          <a:solidFill>
            <a:srgbClr val="EAF6EC"/>
          </a:solidFill>
          <a:ln w="15875">
            <a:solidFill>
              <a:srgbClr val="66BB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52728" y="3739896"/>
            <a:ext cx="3657600" cy="292608"/>
          </a:xfrm>
          <a:prstGeom prst="rect">
            <a:avLst/>
          </a:prstGeom>
          <a:noFill/>
        </p:spPr>
        <p:txBody>
          <a:bodyPr wrap="square" anchor="t" lIns="0" rIns="0" tIns="0" bIns="0">
            <a:spAutoFit/>
          </a:bodyPr>
          <a:lstStyle/>
          <a:p>
            <a:pPr algn="l">
              <a:lnSpc>
                <a:spcPct val="100000"/>
              </a:lnSpc>
              <a:spcAft>
                <a:spcPts val="0"/>
              </a:spcAft>
            </a:pPr>
            <a:r>
              <a:rPr sz="1400" b="1" i="0">
                <a:solidFill>
                  <a:srgbClr val="1B4332"/>
                </a:solidFill>
                <a:latin typeface="Calibri"/>
              </a:rPr>
              <a:t>ML / DL Layer</a:t>
            </a:r>
          </a:p>
        </p:txBody>
      </p:sp>
      <p:sp>
        <p:nvSpPr>
          <p:cNvPr id="18" name="TextBox 17"/>
          <p:cNvSpPr txBox="1"/>
          <p:nvPr/>
        </p:nvSpPr>
        <p:spPr>
          <a:xfrm>
            <a:off x="1252728" y="4069080"/>
            <a:ext cx="9692640" cy="457200"/>
          </a:xfrm>
          <a:prstGeom prst="rect">
            <a:avLst/>
          </a:prstGeom>
          <a:noFill/>
        </p:spPr>
        <p:txBody>
          <a:bodyPr wrap="square" anchor="t" lIns="0" rIns="0" tIns="0" bIns="0">
            <a:spAutoFit/>
          </a:bodyPr>
          <a:lstStyle/>
          <a:p>
            <a:pPr algn="l">
              <a:lnSpc>
                <a:spcPct val="110000"/>
              </a:lnSpc>
              <a:spcAft>
                <a:spcPts val="0"/>
              </a:spcAft>
            </a:pPr>
            <a:r>
              <a:rPr sz="1050" b="0" i="0">
                <a:solidFill>
                  <a:srgbClr val="5B6B73"/>
                </a:solidFill>
                <a:latin typeface="Calibri"/>
              </a:rPr>
              <a:t>Random Forest for Crop Recommendation  +  CNN for Disease Detection  —  the two trained models that do the actual prediction work.</a:t>
            </a:r>
          </a:p>
        </p:txBody>
      </p:sp>
      <p:sp>
        <p:nvSpPr>
          <p:cNvPr id="19" name="Right Arrow 18"/>
          <p:cNvSpPr/>
          <p:nvPr/>
        </p:nvSpPr>
        <p:spPr>
          <a:xfrm rot="5400000">
            <a:off x="5952744" y="4581144"/>
            <a:ext cx="292608" cy="182880"/>
          </a:xfrm>
          <a:prstGeom prst="rightArrow">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78408" y="4764024"/>
            <a:ext cx="10241280" cy="932688"/>
          </a:xfrm>
          <a:prstGeom prst="roundRect">
            <a:avLst>
              <a:gd name="adj" fmla="val 10000"/>
            </a:avLst>
          </a:prstGeom>
          <a:solidFill>
            <a:srgbClr val="F4F8F4"/>
          </a:solidFill>
          <a:ln w="15875">
            <a:solidFill>
              <a:srgbClr val="66BB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52728" y="4855464"/>
            <a:ext cx="3657600" cy="292608"/>
          </a:xfrm>
          <a:prstGeom prst="rect">
            <a:avLst/>
          </a:prstGeom>
          <a:noFill/>
        </p:spPr>
        <p:txBody>
          <a:bodyPr wrap="square" anchor="t" lIns="0" rIns="0" tIns="0" bIns="0">
            <a:spAutoFit/>
          </a:bodyPr>
          <a:lstStyle/>
          <a:p>
            <a:pPr algn="l">
              <a:lnSpc>
                <a:spcPct val="100000"/>
              </a:lnSpc>
              <a:spcAft>
                <a:spcPts val="0"/>
              </a:spcAft>
            </a:pPr>
            <a:r>
              <a:rPr sz="1400" b="1" i="0">
                <a:solidFill>
                  <a:srgbClr val="1B4332"/>
                </a:solidFill>
                <a:latin typeface="Calibri"/>
              </a:rPr>
              <a:t>Data Layer</a:t>
            </a:r>
          </a:p>
        </p:txBody>
      </p:sp>
      <p:sp>
        <p:nvSpPr>
          <p:cNvPr id="22" name="TextBox 21"/>
          <p:cNvSpPr txBox="1"/>
          <p:nvPr/>
        </p:nvSpPr>
        <p:spPr>
          <a:xfrm>
            <a:off x="1252728" y="5184648"/>
            <a:ext cx="9692640" cy="457200"/>
          </a:xfrm>
          <a:prstGeom prst="rect">
            <a:avLst/>
          </a:prstGeom>
          <a:noFill/>
        </p:spPr>
        <p:txBody>
          <a:bodyPr wrap="square" anchor="t" lIns="0" rIns="0" tIns="0" bIns="0">
            <a:spAutoFit/>
          </a:bodyPr>
          <a:lstStyle/>
          <a:p>
            <a:pPr algn="l">
              <a:lnSpc>
                <a:spcPct val="110000"/>
              </a:lnSpc>
              <a:spcAft>
                <a:spcPts val="0"/>
              </a:spcAft>
            </a:pPr>
            <a:r>
              <a:rPr sz="1050" b="0" i="0">
                <a:solidFill>
                  <a:srgbClr val="5B6B73"/>
                </a:solidFill>
                <a:latin typeface="Calibri"/>
              </a:rPr>
              <a:t>SQLite (users.db) · Crop_recommendation.csv · Weather Data · Uploaded Leaf Images  —  everything the models and app need to read or write.</a:t>
            </a:r>
          </a:p>
        </p:txBody>
      </p:sp>
      <p:sp>
        <p:nvSpPr>
          <p:cNvPr id="23" name="TextBox 22"/>
          <p:cNvSpPr txBox="1"/>
          <p:nvPr/>
        </p:nvSpPr>
        <p:spPr>
          <a:xfrm>
            <a:off x="11475720" y="6528816"/>
            <a:ext cx="548640" cy="256032"/>
          </a:xfrm>
          <a:prstGeom prst="rect">
            <a:avLst/>
          </a:prstGeom>
          <a:noFill/>
        </p:spPr>
        <p:txBody>
          <a:bodyPr wrap="square" anchor="t" lIns="0" rIns="0" tIns="0" bIns="0">
            <a:spAutoFit/>
          </a:bodyPr>
          <a:lstStyle/>
          <a:p>
            <a:pPr algn="r">
              <a:lnSpc>
                <a:spcPct val="100000"/>
              </a:lnSpc>
              <a:spcAft>
                <a:spcPts val="0"/>
              </a:spcAft>
            </a:pPr>
            <a:r>
              <a:rPr sz="850" b="0" i="0">
                <a:solidFill>
                  <a:srgbClr val="5B6B73"/>
                </a:solidFill>
                <a:latin typeface="Calibri"/>
              </a:rPr>
              <a:t>04 /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7315200" cy="292608"/>
          </a:xfrm>
          <a:prstGeom prst="rect">
            <a:avLst/>
          </a:prstGeom>
          <a:noFill/>
        </p:spPr>
        <p:txBody>
          <a:bodyPr wrap="square" anchor="t" lIns="0" rIns="0" tIns="0" bIns="0">
            <a:spAutoFit/>
          </a:bodyPr>
          <a:lstStyle/>
          <a:p>
            <a:pPr algn="l">
              <a:lnSpc>
                <a:spcPct val="100000"/>
              </a:lnSpc>
              <a:spcAft>
                <a:spcPts val="0"/>
              </a:spcAft>
            </a:pPr>
            <a:r>
              <a:rPr sz="1200" b="1" i="0">
                <a:solidFill>
                  <a:srgbClr val="2E7D32"/>
                </a:solidFill>
                <a:latin typeface="Calibri"/>
              </a:rPr>
              <a:t>THE INTELLIGENCE BEHIND THE SYSTEM</a:t>
            </a:r>
          </a:p>
        </p:txBody>
      </p:sp>
      <p:sp>
        <p:nvSpPr>
          <p:cNvPr id="5" name="TextBox 4"/>
          <p:cNvSpPr txBox="1"/>
          <p:nvPr/>
        </p:nvSpPr>
        <p:spPr>
          <a:xfrm>
            <a:off x="502920" y="548640"/>
            <a:ext cx="10607040" cy="621792"/>
          </a:xfrm>
          <a:prstGeom prst="rect">
            <a:avLst/>
          </a:prstGeom>
          <a:noFill/>
        </p:spPr>
        <p:txBody>
          <a:bodyPr wrap="square" anchor="t" lIns="0" rIns="0" tIns="0" bIns="0">
            <a:spAutoFit/>
          </a:bodyPr>
          <a:lstStyle/>
          <a:p>
            <a:pPr algn="l">
              <a:lnSpc>
                <a:spcPct val="100000"/>
              </a:lnSpc>
              <a:spcAft>
                <a:spcPts val="0"/>
              </a:spcAft>
            </a:pPr>
            <a:r>
              <a:rPr sz="2600" b="1" i="0">
                <a:solidFill>
                  <a:srgbClr val="1B4332"/>
                </a:solidFill>
                <a:latin typeface="Calibri"/>
              </a:rPr>
              <a:t>Two Machine Learning Models</a:t>
            </a:r>
          </a:p>
        </p:txBody>
      </p:sp>
      <p:sp>
        <p:nvSpPr>
          <p:cNvPr id="6" name="Rectangle 5"/>
          <p:cNvSpPr/>
          <p:nvPr/>
        </p:nvSpPr>
        <p:spPr>
          <a:xfrm>
            <a:off x="502920" y="1170432"/>
            <a:ext cx="1005840" cy="381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spcAft>
                <a:spcPts val="0"/>
              </a:spcAft>
            </a:pPr>
            <a:r>
              <a:rPr sz="850" b="0" i="0">
                <a:solidFill>
                  <a:srgbClr val="5B6B73"/>
                </a:solidFill>
                <a:latin typeface="Calibri"/>
              </a:rPr>
              <a:t>Crop Recommendation &amp; Disease Detection System</a:t>
            </a:r>
          </a:p>
        </p:txBody>
      </p:sp>
      <p:sp>
        <p:nvSpPr>
          <p:cNvPr id="8" name="Rounded Rectangle 7"/>
          <p:cNvSpPr/>
          <p:nvPr/>
        </p:nvSpPr>
        <p:spPr>
          <a:xfrm>
            <a:off x="502920" y="1417320"/>
            <a:ext cx="5440680" cy="4572000"/>
          </a:xfrm>
          <a:prstGeom prst="roundRect">
            <a:avLst>
              <a:gd name="adj" fmla="val 5000"/>
            </a:avLst>
          </a:prstGeom>
          <a:solidFill>
            <a:srgbClr val="FFFFFF"/>
          </a:solidFill>
          <a:ln w="15875">
            <a:solidFill>
              <a:srgbClr val="DCE6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02920" y="1417320"/>
            <a:ext cx="5440680" cy="530352"/>
          </a:xfrm>
          <a:prstGeom prst="roundRect">
            <a:avLst>
              <a:gd name="adj" fmla="val 5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90472"/>
            <a:ext cx="4892040" cy="384048"/>
          </a:xfrm>
          <a:prstGeom prst="rect">
            <a:avLst/>
          </a:prstGeom>
          <a:noFill/>
        </p:spPr>
        <p:txBody>
          <a:bodyPr wrap="square" anchor="t" lIns="0" rIns="0" tIns="0" bIns="0">
            <a:spAutoFit/>
          </a:bodyPr>
          <a:lstStyle/>
          <a:p>
            <a:pPr algn="l">
              <a:lnSpc>
                <a:spcPct val="100000"/>
              </a:lnSpc>
              <a:spcAft>
                <a:spcPts val="0"/>
              </a:spcAft>
            </a:pPr>
            <a:r>
              <a:rPr sz="1600" b="1" i="0">
                <a:solidFill>
                  <a:srgbClr val="FFFFFF"/>
                </a:solidFill>
                <a:latin typeface="Calibri"/>
              </a:rPr>
              <a:t>Crop Recommendation</a:t>
            </a:r>
          </a:p>
        </p:txBody>
      </p:sp>
      <p:sp>
        <p:nvSpPr>
          <p:cNvPr id="11" name="TextBox 10"/>
          <p:cNvSpPr txBox="1"/>
          <p:nvPr/>
        </p:nvSpPr>
        <p:spPr>
          <a:xfrm>
            <a:off x="777240" y="2130552"/>
            <a:ext cx="4892040" cy="2651760"/>
          </a:xfrm>
          <a:prstGeom prst="rect">
            <a:avLst/>
          </a:prstGeom>
          <a:noFill/>
        </p:spPr>
        <p:txBody>
          <a:bodyPr wrap="square" lIns="0" rIns="0" tIns="0" bIns="0">
            <a:spAutoFit/>
          </a:bodyPr>
          <a:lstStyle/>
          <a:p>
            <a:pPr algn="l">
              <a:lnSpc>
                <a:spcPct val="110000"/>
              </a:lnSpc>
              <a:spcAft>
                <a:spcPts val="1000"/>
              </a:spcAft>
            </a:pPr>
            <a:r>
              <a:rPr sz="1150" b="1">
                <a:solidFill>
                  <a:srgbClr val="2E7D32"/>
                </a:solidFill>
                <a:latin typeface="Calibri"/>
              </a:rPr>
              <a:t>›  </a:t>
            </a:r>
            <a:r>
              <a:rPr sz="1150" b="1">
                <a:solidFill>
                  <a:srgbClr val="1B4332"/>
                </a:solidFill>
                <a:latin typeface="Calibri"/>
              </a:rPr>
              <a:t>Algorithm: </a:t>
            </a:r>
            <a:r>
              <a:rPr sz="1150">
                <a:solidFill>
                  <a:srgbClr val="2C3E50"/>
                </a:solidFill>
                <a:latin typeface="Calibri"/>
              </a:rPr>
              <a:t>Random Forest Classifier made of 100 decision trees — well-suited to tabular soil/climate data.</a:t>
            </a:r>
          </a:p>
          <a:p>
            <a:pPr algn="l">
              <a:lnSpc>
                <a:spcPct val="110000"/>
              </a:lnSpc>
              <a:spcAft>
                <a:spcPts val="1000"/>
              </a:spcAft>
            </a:pPr>
            <a:r>
              <a:rPr sz="1150" b="1">
                <a:solidFill>
                  <a:srgbClr val="2E7D32"/>
                </a:solidFill>
                <a:latin typeface="Calibri"/>
              </a:rPr>
              <a:t>›  </a:t>
            </a:r>
            <a:r>
              <a:rPr sz="1150" b="1">
                <a:solidFill>
                  <a:srgbClr val="1B4332"/>
                </a:solidFill>
                <a:latin typeface="Calibri"/>
              </a:rPr>
              <a:t>Inputs (10 features): </a:t>
            </a:r>
            <a:r>
              <a:rPr sz="1150">
                <a:solidFill>
                  <a:srgbClr val="2C3E50"/>
                </a:solidFill>
                <a:latin typeface="Calibri"/>
              </a:rPr>
              <a:t>N, P, K, temperature, humidity, pH, rainfall, plus 3 engineered indices (NPK ratio, temp-humidity index, soil fertility score).</a:t>
            </a:r>
          </a:p>
          <a:p>
            <a:pPr algn="l">
              <a:lnSpc>
                <a:spcPct val="110000"/>
              </a:lnSpc>
              <a:spcAft>
                <a:spcPts val="1000"/>
              </a:spcAft>
            </a:pPr>
            <a:r>
              <a:rPr sz="1150" b="1">
                <a:solidFill>
                  <a:srgbClr val="2E7D32"/>
                </a:solidFill>
                <a:latin typeface="Calibri"/>
              </a:rPr>
              <a:t>›  </a:t>
            </a:r>
            <a:r>
              <a:rPr sz="1150" b="1">
                <a:solidFill>
                  <a:srgbClr val="1B4332"/>
                </a:solidFill>
                <a:latin typeface="Calibri"/>
              </a:rPr>
              <a:t>Output: </a:t>
            </a:r>
            <a:r>
              <a:rPr sz="1150">
                <a:solidFill>
                  <a:srgbClr val="2C3E50"/>
                </a:solidFill>
                <a:latin typeface="Calibri"/>
              </a:rPr>
              <a:t>The best match out of 22 possible crop classes.</a:t>
            </a:r>
          </a:p>
          <a:p>
            <a:pPr algn="l">
              <a:lnSpc>
                <a:spcPct val="110000"/>
              </a:lnSpc>
              <a:spcAft>
                <a:spcPts val="1000"/>
              </a:spcAft>
            </a:pPr>
            <a:r>
              <a:rPr sz="1150" b="1">
                <a:solidFill>
                  <a:srgbClr val="2E7D32"/>
                </a:solidFill>
                <a:latin typeface="Calibri"/>
              </a:rPr>
              <a:t>›  </a:t>
            </a:r>
            <a:r>
              <a:rPr sz="1150" b="1">
                <a:solidFill>
                  <a:srgbClr val="1B4332"/>
                </a:solidFill>
                <a:latin typeface="Calibri"/>
              </a:rPr>
              <a:t>Enhancement: </a:t>
            </a:r>
            <a:r>
              <a:rPr sz="1150">
                <a:solidFill>
                  <a:srgbClr val="2C3E50"/>
                </a:solidFill>
                <a:latin typeface="Calibri"/>
              </a:rPr>
              <a:t>Region-aware tuning that adjusts the recommendation for the Kokan belt's soil type and cropping season.</a:t>
            </a:r>
          </a:p>
        </p:txBody>
      </p:sp>
      <p:sp>
        <p:nvSpPr>
          <p:cNvPr id="12" name="Rounded Rectangle 11"/>
          <p:cNvSpPr/>
          <p:nvPr/>
        </p:nvSpPr>
        <p:spPr>
          <a:xfrm>
            <a:off x="777240" y="5029200"/>
            <a:ext cx="4892040" cy="749808"/>
          </a:xfrm>
          <a:prstGeom prst="roundRect">
            <a:avLst>
              <a:gd name="adj" fmla="val 15000"/>
            </a:avLst>
          </a:prstGeom>
          <a:solidFill>
            <a:srgbClr val="EA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5129783"/>
            <a:ext cx="4617720" cy="274320"/>
          </a:xfrm>
          <a:prstGeom prst="rect">
            <a:avLst/>
          </a:prstGeom>
          <a:noFill/>
        </p:spPr>
        <p:txBody>
          <a:bodyPr wrap="square" anchor="t" lIns="0" rIns="0" tIns="0" bIns="0">
            <a:spAutoFit/>
          </a:bodyPr>
          <a:lstStyle/>
          <a:p>
            <a:pPr algn="l">
              <a:lnSpc>
                <a:spcPct val="100000"/>
              </a:lnSpc>
              <a:spcAft>
                <a:spcPts val="0"/>
              </a:spcAft>
            </a:pPr>
            <a:r>
              <a:rPr sz="1100" b="0" i="0">
                <a:solidFill>
                  <a:srgbClr val="5B6B73"/>
                </a:solidFill>
                <a:latin typeface="Calibri"/>
              </a:rPr>
              <a:t>5-Fold Cross-Validation Accuracy</a:t>
            </a:r>
          </a:p>
        </p:txBody>
      </p:sp>
      <p:sp>
        <p:nvSpPr>
          <p:cNvPr id="14" name="TextBox 13"/>
          <p:cNvSpPr txBox="1"/>
          <p:nvPr/>
        </p:nvSpPr>
        <p:spPr>
          <a:xfrm>
            <a:off x="960120" y="5367528"/>
            <a:ext cx="4617720" cy="384048"/>
          </a:xfrm>
          <a:prstGeom prst="rect">
            <a:avLst/>
          </a:prstGeom>
          <a:noFill/>
        </p:spPr>
        <p:txBody>
          <a:bodyPr wrap="square" anchor="t" lIns="0" rIns="0" tIns="0" bIns="0">
            <a:spAutoFit/>
          </a:bodyPr>
          <a:lstStyle/>
          <a:p>
            <a:pPr algn="l">
              <a:lnSpc>
                <a:spcPct val="100000"/>
              </a:lnSpc>
              <a:spcAft>
                <a:spcPts val="0"/>
              </a:spcAft>
            </a:pPr>
            <a:r>
              <a:rPr sz="2000" b="1" i="0">
                <a:solidFill>
                  <a:srgbClr val="1B4332"/>
                </a:solidFill>
                <a:latin typeface="Calibri"/>
              </a:rPr>
              <a:t>99.45%</a:t>
            </a:r>
          </a:p>
        </p:txBody>
      </p:sp>
      <p:sp>
        <p:nvSpPr>
          <p:cNvPr id="15" name="Rounded Rectangle 14"/>
          <p:cNvSpPr/>
          <p:nvPr/>
        </p:nvSpPr>
        <p:spPr>
          <a:xfrm>
            <a:off x="6245352" y="1417320"/>
            <a:ext cx="5440680" cy="4572000"/>
          </a:xfrm>
          <a:prstGeom prst="roundRect">
            <a:avLst>
              <a:gd name="adj" fmla="val 5000"/>
            </a:avLst>
          </a:prstGeom>
          <a:solidFill>
            <a:srgbClr val="FFFFFF"/>
          </a:solidFill>
          <a:ln w="15875">
            <a:solidFill>
              <a:srgbClr val="DCE6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45352" y="1417320"/>
            <a:ext cx="5440680" cy="530352"/>
          </a:xfrm>
          <a:prstGeom prst="roundRect">
            <a:avLst>
              <a:gd name="adj" fmla="val 5000"/>
            </a:avLst>
          </a:prstGeom>
          <a:solidFill>
            <a:srgbClr val="1B4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19672" y="1490472"/>
            <a:ext cx="4892040" cy="384048"/>
          </a:xfrm>
          <a:prstGeom prst="rect">
            <a:avLst/>
          </a:prstGeom>
          <a:noFill/>
        </p:spPr>
        <p:txBody>
          <a:bodyPr wrap="square" anchor="t" lIns="0" rIns="0" tIns="0" bIns="0">
            <a:spAutoFit/>
          </a:bodyPr>
          <a:lstStyle/>
          <a:p>
            <a:pPr algn="l">
              <a:lnSpc>
                <a:spcPct val="100000"/>
              </a:lnSpc>
              <a:spcAft>
                <a:spcPts val="0"/>
              </a:spcAft>
            </a:pPr>
            <a:r>
              <a:rPr sz="1600" b="1" i="0">
                <a:solidFill>
                  <a:srgbClr val="FFFFFF"/>
                </a:solidFill>
                <a:latin typeface="Calibri"/>
              </a:rPr>
              <a:t>Disease Detection</a:t>
            </a:r>
          </a:p>
        </p:txBody>
      </p:sp>
      <p:sp>
        <p:nvSpPr>
          <p:cNvPr id="18" name="TextBox 17"/>
          <p:cNvSpPr txBox="1"/>
          <p:nvPr/>
        </p:nvSpPr>
        <p:spPr>
          <a:xfrm>
            <a:off x="6519672" y="2130552"/>
            <a:ext cx="4892040" cy="2651760"/>
          </a:xfrm>
          <a:prstGeom prst="rect">
            <a:avLst/>
          </a:prstGeom>
          <a:noFill/>
        </p:spPr>
        <p:txBody>
          <a:bodyPr wrap="square" lIns="0" rIns="0" tIns="0" bIns="0">
            <a:spAutoFit/>
          </a:bodyPr>
          <a:lstStyle/>
          <a:p>
            <a:pPr algn="l">
              <a:lnSpc>
                <a:spcPct val="110000"/>
              </a:lnSpc>
              <a:spcAft>
                <a:spcPts val="1000"/>
              </a:spcAft>
            </a:pPr>
            <a:r>
              <a:rPr sz="1150" b="1">
                <a:solidFill>
                  <a:srgbClr val="2E7D32"/>
                </a:solidFill>
                <a:latin typeface="Calibri"/>
              </a:rPr>
              <a:t>›  </a:t>
            </a:r>
            <a:r>
              <a:rPr sz="1150" b="1">
                <a:solidFill>
                  <a:srgbClr val="1B4332"/>
                </a:solidFill>
                <a:latin typeface="Calibri"/>
              </a:rPr>
              <a:t>Algorithm: </a:t>
            </a:r>
            <a:r>
              <a:rPr sz="1150">
                <a:solidFill>
                  <a:srgbClr val="2C3E50"/>
                </a:solidFill>
                <a:latin typeface="Calibri"/>
              </a:rPr>
              <a:t>A Convolutional Neural Network (CNN) built with Keras / TensorFlow, specialized for image classification.</a:t>
            </a:r>
          </a:p>
          <a:p>
            <a:pPr algn="l">
              <a:lnSpc>
                <a:spcPct val="110000"/>
              </a:lnSpc>
              <a:spcAft>
                <a:spcPts val="1000"/>
              </a:spcAft>
            </a:pPr>
            <a:r>
              <a:rPr sz="1150" b="1">
                <a:solidFill>
                  <a:srgbClr val="2E7D32"/>
                </a:solidFill>
                <a:latin typeface="Calibri"/>
              </a:rPr>
              <a:t>›  </a:t>
            </a:r>
            <a:r>
              <a:rPr sz="1150" b="1">
                <a:solidFill>
                  <a:srgbClr val="1B4332"/>
                </a:solidFill>
                <a:latin typeface="Calibri"/>
              </a:rPr>
              <a:t>Input: </a:t>
            </a:r>
            <a:r>
              <a:rPr sz="1150">
                <a:solidFill>
                  <a:srgbClr val="2C3E50"/>
                </a:solidFill>
                <a:latin typeface="Calibri"/>
              </a:rPr>
              <a:t>A 224×224 leaf photo, resized and normalized using EfficientNet-style preprocessing.</a:t>
            </a:r>
          </a:p>
          <a:p>
            <a:pPr algn="l">
              <a:lnSpc>
                <a:spcPct val="110000"/>
              </a:lnSpc>
              <a:spcAft>
                <a:spcPts val="1000"/>
              </a:spcAft>
            </a:pPr>
            <a:r>
              <a:rPr sz="1150" b="1">
                <a:solidFill>
                  <a:srgbClr val="2E7D32"/>
                </a:solidFill>
                <a:latin typeface="Calibri"/>
              </a:rPr>
              <a:t>›  </a:t>
            </a:r>
            <a:r>
              <a:rPr sz="1150" b="1">
                <a:solidFill>
                  <a:srgbClr val="1B4332"/>
                </a:solidFill>
                <a:latin typeface="Calibri"/>
              </a:rPr>
              <a:t>Output: </a:t>
            </a:r>
            <a:r>
              <a:rPr sz="1150">
                <a:solidFill>
                  <a:srgbClr val="2C3E50"/>
                </a:solidFill>
                <a:latin typeface="Calibri"/>
              </a:rPr>
              <a:t>The best match out of 31 disease classes spanning 6 crops.</a:t>
            </a:r>
          </a:p>
          <a:p>
            <a:pPr algn="l">
              <a:lnSpc>
                <a:spcPct val="110000"/>
              </a:lnSpc>
              <a:spcAft>
                <a:spcPts val="1000"/>
              </a:spcAft>
            </a:pPr>
            <a:r>
              <a:rPr sz="1150" b="1">
                <a:solidFill>
                  <a:srgbClr val="2E7D32"/>
                </a:solidFill>
                <a:latin typeface="Calibri"/>
              </a:rPr>
              <a:t>›  </a:t>
            </a:r>
            <a:r>
              <a:rPr sz="1150" b="1">
                <a:solidFill>
                  <a:srgbClr val="1B4332"/>
                </a:solidFill>
                <a:latin typeface="Calibri"/>
              </a:rPr>
              <a:t>Enhancement: </a:t>
            </a:r>
            <a:r>
              <a:rPr sz="1150">
                <a:solidFill>
                  <a:srgbClr val="2C3E50"/>
                </a:solidFill>
                <a:latin typeface="Calibri"/>
              </a:rPr>
              <a:t>A confidence threshold rejects unreliable guesses instead of forcing a possibly wrong label (more on this shortly).</a:t>
            </a:r>
          </a:p>
        </p:txBody>
      </p:sp>
      <p:sp>
        <p:nvSpPr>
          <p:cNvPr id="19" name="Rounded Rectangle 18"/>
          <p:cNvSpPr/>
          <p:nvPr/>
        </p:nvSpPr>
        <p:spPr>
          <a:xfrm>
            <a:off x="6519672" y="5029200"/>
            <a:ext cx="4892040" cy="749808"/>
          </a:xfrm>
          <a:prstGeom prst="roundRect">
            <a:avLst>
              <a:gd name="adj" fmla="val 15000"/>
            </a:avLst>
          </a:prstGeom>
          <a:solidFill>
            <a:srgbClr val="FFF8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02552" y="5129783"/>
            <a:ext cx="4617720" cy="274320"/>
          </a:xfrm>
          <a:prstGeom prst="rect">
            <a:avLst/>
          </a:prstGeom>
          <a:noFill/>
        </p:spPr>
        <p:txBody>
          <a:bodyPr wrap="square" anchor="t" lIns="0" rIns="0" tIns="0" bIns="0">
            <a:spAutoFit/>
          </a:bodyPr>
          <a:lstStyle/>
          <a:p>
            <a:pPr algn="l">
              <a:lnSpc>
                <a:spcPct val="100000"/>
              </a:lnSpc>
              <a:spcAft>
                <a:spcPts val="0"/>
              </a:spcAft>
            </a:pPr>
            <a:r>
              <a:rPr sz="1100" b="0" i="0">
                <a:solidFill>
                  <a:srgbClr val="5B6B73"/>
                </a:solidFill>
                <a:latin typeface="Calibri"/>
              </a:rPr>
              <a:t>Crops Covered</a:t>
            </a:r>
          </a:p>
        </p:txBody>
      </p:sp>
      <p:sp>
        <p:nvSpPr>
          <p:cNvPr id="21" name="TextBox 20"/>
          <p:cNvSpPr txBox="1"/>
          <p:nvPr/>
        </p:nvSpPr>
        <p:spPr>
          <a:xfrm>
            <a:off x="6702552" y="5349240"/>
            <a:ext cx="4617720" cy="420624"/>
          </a:xfrm>
          <a:prstGeom prst="rect">
            <a:avLst/>
          </a:prstGeom>
          <a:noFill/>
        </p:spPr>
        <p:txBody>
          <a:bodyPr wrap="square" anchor="t" lIns="0" rIns="0" tIns="0" bIns="0">
            <a:spAutoFit/>
          </a:bodyPr>
          <a:lstStyle/>
          <a:p>
            <a:pPr algn="l">
              <a:lnSpc>
                <a:spcPct val="105000"/>
              </a:lnSpc>
              <a:spcAft>
                <a:spcPts val="0"/>
              </a:spcAft>
            </a:pPr>
            <a:r>
              <a:rPr sz="1350" b="1" i="0">
                <a:solidFill>
                  <a:srgbClr val="1B4332"/>
                </a:solidFill>
                <a:latin typeface="Calibri"/>
              </a:rPr>
              <a:t>Rice, Mango, Coconut, Cashew, Banana, Sugarcane</a:t>
            </a:r>
          </a:p>
        </p:txBody>
      </p:sp>
      <p:sp>
        <p:nvSpPr>
          <p:cNvPr id="22" name="TextBox 21"/>
          <p:cNvSpPr txBox="1"/>
          <p:nvPr/>
        </p:nvSpPr>
        <p:spPr>
          <a:xfrm>
            <a:off x="11475720" y="6528816"/>
            <a:ext cx="548640" cy="256032"/>
          </a:xfrm>
          <a:prstGeom prst="rect">
            <a:avLst/>
          </a:prstGeom>
          <a:noFill/>
        </p:spPr>
        <p:txBody>
          <a:bodyPr wrap="square" anchor="t" lIns="0" rIns="0" tIns="0" bIns="0">
            <a:spAutoFit/>
          </a:bodyPr>
          <a:lstStyle/>
          <a:p>
            <a:pPr algn="r">
              <a:lnSpc>
                <a:spcPct val="100000"/>
              </a:lnSpc>
              <a:spcAft>
                <a:spcPts val="0"/>
              </a:spcAft>
            </a:pPr>
            <a:r>
              <a:rPr sz="850" b="0" i="0">
                <a:solidFill>
                  <a:srgbClr val="5B6B73"/>
                </a:solidFill>
                <a:latin typeface="Calibri"/>
              </a:rPr>
              <a:t>05 /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7315200" cy="292608"/>
          </a:xfrm>
          <a:prstGeom prst="rect">
            <a:avLst/>
          </a:prstGeom>
          <a:noFill/>
        </p:spPr>
        <p:txBody>
          <a:bodyPr wrap="square" anchor="t" lIns="0" rIns="0" tIns="0" bIns="0">
            <a:spAutoFit/>
          </a:bodyPr>
          <a:lstStyle/>
          <a:p>
            <a:pPr algn="l">
              <a:lnSpc>
                <a:spcPct val="100000"/>
              </a:lnSpc>
              <a:spcAft>
                <a:spcPts val="0"/>
              </a:spcAft>
            </a:pPr>
            <a:r>
              <a:rPr sz="1200" b="1" i="0">
                <a:solidFill>
                  <a:srgbClr val="2E7D32"/>
                </a:solidFill>
                <a:latin typeface="Calibri"/>
              </a:rPr>
              <a:t>FROM PHOTO &amp; WEATHER TO EARLY WARNING</a:t>
            </a:r>
          </a:p>
        </p:txBody>
      </p:sp>
      <p:sp>
        <p:nvSpPr>
          <p:cNvPr id="5" name="TextBox 4"/>
          <p:cNvSpPr txBox="1"/>
          <p:nvPr/>
        </p:nvSpPr>
        <p:spPr>
          <a:xfrm>
            <a:off x="502920" y="548640"/>
            <a:ext cx="10607040" cy="621792"/>
          </a:xfrm>
          <a:prstGeom prst="rect">
            <a:avLst/>
          </a:prstGeom>
          <a:noFill/>
        </p:spPr>
        <p:txBody>
          <a:bodyPr wrap="square" anchor="t" lIns="0" rIns="0" tIns="0" bIns="0">
            <a:spAutoFit/>
          </a:bodyPr>
          <a:lstStyle/>
          <a:p>
            <a:pPr algn="l">
              <a:lnSpc>
                <a:spcPct val="100000"/>
              </a:lnSpc>
              <a:spcAft>
                <a:spcPts val="0"/>
              </a:spcAft>
            </a:pPr>
            <a:r>
              <a:rPr sz="2600" b="1" i="0">
                <a:solidFill>
                  <a:srgbClr val="1B4332"/>
                </a:solidFill>
                <a:latin typeface="Calibri"/>
              </a:rPr>
              <a:t>Disease Pipeline &amp; Weather-Based Risk</a:t>
            </a:r>
          </a:p>
        </p:txBody>
      </p:sp>
      <p:sp>
        <p:nvSpPr>
          <p:cNvPr id="6" name="Rectangle 5"/>
          <p:cNvSpPr/>
          <p:nvPr/>
        </p:nvSpPr>
        <p:spPr>
          <a:xfrm>
            <a:off x="502920" y="1170432"/>
            <a:ext cx="1005840" cy="381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spcAft>
                <a:spcPts val="0"/>
              </a:spcAft>
            </a:pPr>
            <a:r>
              <a:rPr sz="850" b="0" i="0">
                <a:solidFill>
                  <a:srgbClr val="5B6B73"/>
                </a:solidFill>
                <a:latin typeface="Calibri"/>
              </a:rPr>
              <a:t>Crop Recommendation &amp; Disease Detection System</a:t>
            </a:r>
          </a:p>
        </p:txBody>
      </p:sp>
      <p:sp>
        <p:nvSpPr>
          <p:cNvPr id="8" name="Rectangle 7"/>
          <p:cNvSpPr/>
          <p:nvPr/>
        </p:nvSpPr>
        <p:spPr>
          <a:xfrm>
            <a:off x="6053328" y="1417320"/>
            <a:ext cx="19050" cy="4663440"/>
          </a:xfrm>
          <a:prstGeom prst="rect">
            <a:avLst/>
          </a:prstGeom>
          <a:solidFill>
            <a:srgbClr val="DCE6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417320"/>
            <a:ext cx="5303520" cy="292608"/>
          </a:xfrm>
          <a:prstGeom prst="rect">
            <a:avLst/>
          </a:prstGeom>
          <a:noFill/>
        </p:spPr>
        <p:txBody>
          <a:bodyPr wrap="square" anchor="t" lIns="0" rIns="0" tIns="0" bIns="0">
            <a:spAutoFit/>
          </a:bodyPr>
          <a:lstStyle/>
          <a:p>
            <a:pPr algn="l">
              <a:lnSpc>
                <a:spcPct val="100000"/>
              </a:lnSpc>
              <a:spcAft>
                <a:spcPts val="0"/>
              </a:spcAft>
            </a:pPr>
            <a:r>
              <a:rPr sz="1200" b="1" i="0">
                <a:solidFill>
                  <a:srgbClr val="2E7D32"/>
                </a:solidFill>
                <a:latin typeface="Calibri"/>
              </a:rPr>
              <a:t>DISEASE DETECTION PIPELINE</a:t>
            </a:r>
          </a:p>
        </p:txBody>
      </p:sp>
      <p:sp>
        <p:nvSpPr>
          <p:cNvPr id="10" name="Oval 9"/>
          <p:cNvSpPr/>
          <p:nvPr/>
        </p:nvSpPr>
        <p:spPr>
          <a:xfrm>
            <a:off x="502920" y="1828800"/>
            <a:ext cx="402336" cy="402336"/>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rPr>
              <a:t>1</a:t>
            </a:r>
          </a:p>
        </p:txBody>
      </p:sp>
      <p:sp>
        <p:nvSpPr>
          <p:cNvPr id="11" name="TextBox 10"/>
          <p:cNvSpPr txBox="1"/>
          <p:nvPr/>
        </p:nvSpPr>
        <p:spPr>
          <a:xfrm>
            <a:off x="1024128" y="1783080"/>
            <a:ext cx="4663440" cy="274320"/>
          </a:xfrm>
          <a:prstGeom prst="rect">
            <a:avLst/>
          </a:prstGeom>
          <a:noFill/>
        </p:spPr>
        <p:txBody>
          <a:bodyPr wrap="square" anchor="t" lIns="0" rIns="0" tIns="0" bIns="0">
            <a:spAutoFit/>
          </a:bodyPr>
          <a:lstStyle/>
          <a:p>
            <a:pPr algn="l">
              <a:lnSpc>
                <a:spcPct val="100000"/>
              </a:lnSpc>
              <a:spcAft>
                <a:spcPts val="0"/>
              </a:spcAft>
            </a:pPr>
            <a:r>
              <a:rPr sz="1250" b="1" i="0">
                <a:solidFill>
                  <a:srgbClr val="1B4332"/>
                </a:solidFill>
                <a:latin typeface="Calibri"/>
              </a:rPr>
              <a:t>Upload Leaf Photo</a:t>
            </a:r>
          </a:p>
        </p:txBody>
      </p:sp>
      <p:sp>
        <p:nvSpPr>
          <p:cNvPr id="12" name="TextBox 11"/>
          <p:cNvSpPr txBox="1"/>
          <p:nvPr/>
        </p:nvSpPr>
        <p:spPr>
          <a:xfrm>
            <a:off x="1024128" y="2066543"/>
            <a:ext cx="4663440" cy="530352"/>
          </a:xfrm>
          <a:prstGeom prst="rect">
            <a:avLst/>
          </a:prstGeom>
          <a:noFill/>
        </p:spPr>
        <p:txBody>
          <a:bodyPr wrap="square" anchor="t" lIns="0" rIns="0" tIns="0" bIns="0">
            <a:spAutoFit/>
          </a:bodyPr>
          <a:lstStyle/>
          <a:p>
            <a:pPr algn="l">
              <a:lnSpc>
                <a:spcPct val="110000"/>
              </a:lnSpc>
              <a:spcAft>
                <a:spcPts val="0"/>
              </a:spcAft>
            </a:pPr>
            <a:r>
              <a:rPr sz="1000" b="0" i="0">
                <a:solidFill>
                  <a:srgbClr val="5B6B73"/>
                </a:solidFill>
                <a:latin typeface="Calibri"/>
              </a:rPr>
              <a:t>The user uploads a clear JPG or PNG photo of a single affected leaf through the Disease Detection page.</a:t>
            </a:r>
          </a:p>
        </p:txBody>
      </p:sp>
      <p:cxnSp>
        <p:nvCxnSpPr>
          <p:cNvPr id="13" name="Connector 12"/>
          <p:cNvCxnSpPr/>
          <p:nvPr/>
        </p:nvCxnSpPr>
        <p:spPr>
          <a:xfrm>
            <a:off x="704088" y="2249424"/>
            <a:ext cx="0" cy="347472"/>
          </a:xfrm>
          <a:prstGeom prst="line">
            <a:avLst/>
          </a:prstGeom>
          <a:ln w="19050">
            <a:solidFill>
              <a:srgbClr val="66BB6A"/>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502920" y="2670048"/>
            <a:ext cx="402336" cy="402336"/>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rPr>
              <a:t>2</a:t>
            </a:r>
          </a:p>
        </p:txBody>
      </p:sp>
      <p:sp>
        <p:nvSpPr>
          <p:cNvPr id="15" name="TextBox 14"/>
          <p:cNvSpPr txBox="1"/>
          <p:nvPr/>
        </p:nvSpPr>
        <p:spPr>
          <a:xfrm>
            <a:off x="1024128" y="2624328"/>
            <a:ext cx="4663440" cy="274320"/>
          </a:xfrm>
          <a:prstGeom prst="rect">
            <a:avLst/>
          </a:prstGeom>
          <a:noFill/>
        </p:spPr>
        <p:txBody>
          <a:bodyPr wrap="square" anchor="t" lIns="0" rIns="0" tIns="0" bIns="0">
            <a:spAutoFit/>
          </a:bodyPr>
          <a:lstStyle/>
          <a:p>
            <a:pPr algn="l">
              <a:lnSpc>
                <a:spcPct val="100000"/>
              </a:lnSpc>
              <a:spcAft>
                <a:spcPts val="0"/>
              </a:spcAft>
            </a:pPr>
            <a:r>
              <a:rPr sz="1250" b="1" i="0">
                <a:solidFill>
                  <a:srgbClr val="1B4332"/>
                </a:solidFill>
                <a:latin typeface="Calibri"/>
              </a:rPr>
              <a:t>Preprocess the Image</a:t>
            </a:r>
          </a:p>
        </p:txBody>
      </p:sp>
      <p:sp>
        <p:nvSpPr>
          <p:cNvPr id="16" name="TextBox 15"/>
          <p:cNvSpPr txBox="1"/>
          <p:nvPr/>
        </p:nvSpPr>
        <p:spPr>
          <a:xfrm>
            <a:off x="1024128" y="2907791"/>
            <a:ext cx="4663440" cy="530352"/>
          </a:xfrm>
          <a:prstGeom prst="rect">
            <a:avLst/>
          </a:prstGeom>
          <a:noFill/>
        </p:spPr>
        <p:txBody>
          <a:bodyPr wrap="square" anchor="t" lIns="0" rIns="0" tIns="0" bIns="0">
            <a:spAutoFit/>
          </a:bodyPr>
          <a:lstStyle/>
          <a:p>
            <a:pPr algn="l">
              <a:lnSpc>
                <a:spcPct val="110000"/>
              </a:lnSpc>
              <a:spcAft>
                <a:spcPts val="0"/>
              </a:spcAft>
            </a:pPr>
            <a:r>
              <a:rPr sz="1000" b="0" i="0">
                <a:solidFill>
                  <a:srgbClr val="5B6B73"/>
                </a:solidFill>
                <a:latin typeface="Calibri"/>
              </a:rPr>
              <a:t>The image is resized to 224×224 pixels and its colors are normalized so the CNN can read it consistently.</a:t>
            </a:r>
          </a:p>
        </p:txBody>
      </p:sp>
      <p:cxnSp>
        <p:nvCxnSpPr>
          <p:cNvPr id="17" name="Connector 16"/>
          <p:cNvCxnSpPr/>
          <p:nvPr/>
        </p:nvCxnSpPr>
        <p:spPr>
          <a:xfrm>
            <a:off x="704088" y="3090672"/>
            <a:ext cx="0" cy="347472"/>
          </a:xfrm>
          <a:prstGeom prst="line">
            <a:avLst/>
          </a:prstGeom>
          <a:ln w="19050">
            <a:solidFill>
              <a:srgbClr val="66BB6A"/>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502920" y="3511296"/>
            <a:ext cx="402336" cy="402336"/>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rPr>
              <a:t>3</a:t>
            </a:r>
          </a:p>
        </p:txBody>
      </p:sp>
      <p:sp>
        <p:nvSpPr>
          <p:cNvPr id="19" name="TextBox 18"/>
          <p:cNvSpPr txBox="1"/>
          <p:nvPr/>
        </p:nvSpPr>
        <p:spPr>
          <a:xfrm>
            <a:off x="1024128" y="3465576"/>
            <a:ext cx="4663440" cy="274320"/>
          </a:xfrm>
          <a:prstGeom prst="rect">
            <a:avLst/>
          </a:prstGeom>
          <a:noFill/>
        </p:spPr>
        <p:txBody>
          <a:bodyPr wrap="square" anchor="t" lIns="0" rIns="0" tIns="0" bIns="0">
            <a:spAutoFit/>
          </a:bodyPr>
          <a:lstStyle/>
          <a:p>
            <a:pPr algn="l">
              <a:lnSpc>
                <a:spcPct val="100000"/>
              </a:lnSpc>
              <a:spcAft>
                <a:spcPts val="0"/>
              </a:spcAft>
            </a:pPr>
            <a:r>
              <a:rPr sz="1250" b="1" i="0">
                <a:solidFill>
                  <a:srgbClr val="1B4332"/>
                </a:solidFill>
                <a:latin typeface="Calibri"/>
              </a:rPr>
              <a:t>CNN Inference</a:t>
            </a:r>
          </a:p>
        </p:txBody>
      </p:sp>
      <p:sp>
        <p:nvSpPr>
          <p:cNvPr id="20" name="TextBox 19"/>
          <p:cNvSpPr txBox="1"/>
          <p:nvPr/>
        </p:nvSpPr>
        <p:spPr>
          <a:xfrm>
            <a:off x="1024128" y="3749039"/>
            <a:ext cx="4663440" cy="530352"/>
          </a:xfrm>
          <a:prstGeom prst="rect">
            <a:avLst/>
          </a:prstGeom>
          <a:noFill/>
        </p:spPr>
        <p:txBody>
          <a:bodyPr wrap="square" anchor="t" lIns="0" rIns="0" tIns="0" bIns="0">
            <a:spAutoFit/>
          </a:bodyPr>
          <a:lstStyle/>
          <a:p>
            <a:pPr algn="l">
              <a:lnSpc>
                <a:spcPct val="110000"/>
              </a:lnSpc>
              <a:spcAft>
                <a:spcPts val="0"/>
              </a:spcAft>
            </a:pPr>
            <a:r>
              <a:rPr sz="1000" b="0" i="0">
                <a:solidFill>
                  <a:srgbClr val="5B6B73"/>
                </a:solidFill>
                <a:latin typeface="Calibri"/>
              </a:rPr>
              <a:t>The trained model predicts a probability for every one of the 31 known disease classes.</a:t>
            </a:r>
          </a:p>
        </p:txBody>
      </p:sp>
      <p:cxnSp>
        <p:nvCxnSpPr>
          <p:cNvPr id="21" name="Connector 20"/>
          <p:cNvCxnSpPr/>
          <p:nvPr/>
        </p:nvCxnSpPr>
        <p:spPr>
          <a:xfrm>
            <a:off x="704088" y="3931920"/>
            <a:ext cx="0" cy="347472"/>
          </a:xfrm>
          <a:prstGeom prst="line">
            <a:avLst/>
          </a:prstGeom>
          <a:ln w="19050">
            <a:solidFill>
              <a:srgbClr val="66BB6A"/>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502920" y="4352544"/>
            <a:ext cx="402336" cy="402336"/>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rPr>
              <a:t>4</a:t>
            </a:r>
          </a:p>
        </p:txBody>
      </p:sp>
      <p:sp>
        <p:nvSpPr>
          <p:cNvPr id="23" name="TextBox 22"/>
          <p:cNvSpPr txBox="1"/>
          <p:nvPr/>
        </p:nvSpPr>
        <p:spPr>
          <a:xfrm>
            <a:off x="1024128" y="4306824"/>
            <a:ext cx="4663440" cy="274320"/>
          </a:xfrm>
          <a:prstGeom prst="rect">
            <a:avLst/>
          </a:prstGeom>
          <a:noFill/>
        </p:spPr>
        <p:txBody>
          <a:bodyPr wrap="square" anchor="t" lIns="0" rIns="0" tIns="0" bIns="0">
            <a:spAutoFit/>
          </a:bodyPr>
          <a:lstStyle/>
          <a:p>
            <a:pPr algn="l">
              <a:lnSpc>
                <a:spcPct val="100000"/>
              </a:lnSpc>
              <a:spcAft>
                <a:spcPts val="0"/>
              </a:spcAft>
            </a:pPr>
            <a:r>
              <a:rPr sz="1250" b="1" i="0">
                <a:solidFill>
                  <a:srgbClr val="1B4332"/>
                </a:solidFill>
                <a:latin typeface="Calibri"/>
              </a:rPr>
              <a:t>Confidence Check</a:t>
            </a:r>
          </a:p>
        </p:txBody>
      </p:sp>
      <p:sp>
        <p:nvSpPr>
          <p:cNvPr id="24" name="TextBox 23"/>
          <p:cNvSpPr txBox="1"/>
          <p:nvPr/>
        </p:nvSpPr>
        <p:spPr>
          <a:xfrm>
            <a:off x="1024128" y="4590288"/>
            <a:ext cx="4663440" cy="530352"/>
          </a:xfrm>
          <a:prstGeom prst="rect">
            <a:avLst/>
          </a:prstGeom>
          <a:noFill/>
        </p:spPr>
        <p:txBody>
          <a:bodyPr wrap="square" anchor="t" lIns="0" rIns="0" tIns="0" bIns="0">
            <a:spAutoFit/>
          </a:bodyPr>
          <a:lstStyle/>
          <a:p>
            <a:pPr algn="l">
              <a:lnSpc>
                <a:spcPct val="110000"/>
              </a:lnSpc>
              <a:spcAft>
                <a:spcPts val="0"/>
              </a:spcAft>
            </a:pPr>
            <a:r>
              <a:rPr sz="1000" b="0" i="0">
                <a:solidFill>
                  <a:srgbClr val="5B6B73"/>
                </a:solidFill>
                <a:latin typeface="Calibri"/>
              </a:rPr>
              <a:t>If the top probability is below 60%, the result is treated as unreliable rather than shown as a diagnosis.</a:t>
            </a:r>
          </a:p>
        </p:txBody>
      </p:sp>
      <p:cxnSp>
        <p:nvCxnSpPr>
          <p:cNvPr id="25" name="Connector 24"/>
          <p:cNvCxnSpPr/>
          <p:nvPr/>
        </p:nvCxnSpPr>
        <p:spPr>
          <a:xfrm>
            <a:off x="704088" y="4773168"/>
            <a:ext cx="0" cy="347472"/>
          </a:xfrm>
          <a:prstGeom prst="line">
            <a:avLst/>
          </a:prstGeom>
          <a:ln w="19050">
            <a:solidFill>
              <a:srgbClr val="66BB6A"/>
            </a:solidFill>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502920" y="5193792"/>
            <a:ext cx="402336" cy="402336"/>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rPr>
              <a:t>5</a:t>
            </a:r>
          </a:p>
        </p:txBody>
      </p:sp>
      <p:sp>
        <p:nvSpPr>
          <p:cNvPr id="27" name="TextBox 26"/>
          <p:cNvSpPr txBox="1"/>
          <p:nvPr/>
        </p:nvSpPr>
        <p:spPr>
          <a:xfrm>
            <a:off x="1024128" y="5148072"/>
            <a:ext cx="4663440" cy="274320"/>
          </a:xfrm>
          <a:prstGeom prst="rect">
            <a:avLst/>
          </a:prstGeom>
          <a:noFill/>
        </p:spPr>
        <p:txBody>
          <a:bodyPr wrap="square" anchor="t" lIns="0" rIns="0" tIns="0" bIns="0">
            <a:spAutoFit/>
          </a:bodyPr>
          <a:lstStyle/>
          <a:p>
            <a:pPr algn="l">
              <a:lnSpc>
                <a:spcPct val="100000"/>
              </a:lnSpc>
              <a:spcAft>
                <a:spcPts val="0"/>
              </a:spcAft>
            </a:pPr>
            <a:r>
              <a:rPr sz="1250" b="1" i="0">
                <a:solidFill>
                  <a:srgbClr val="1B4332"/>
                </a:solidFill>
                <a:latin typeface="Calibri"/>
              </a:rPr>
              <a:t>Result + Remedy</a:t>
            </a:r>
          </a:p>
        </p:txBody>
      </p:sp>
      <p:sp>
        <p:nvSpPr>
          <p:cNvPr id="28" name="TextBox 27"/>
          <p:cNvSpPr txBox="1"/>
          <p:nvPr/>
        </p:nvSpPr>
        <p:spPr>
          <a:xfrm>
            <a:off x="1024128" y="5431536"/>
            <a:ext cx="4663440" cy="530352"/>
          </a:xfrm>
          <a:prstGeom prst="rect">
            <a:avLst/>
          </a:prstGeom>
          <a:noFill/>
        </p:spPr>
        <p:txBody>
          <a:bodyPr wrap="square" anchor="t" lIns="0" rIns="0" tIns="0" bIns="0">
            <a:spAutoFit/>
          </a:bodyPr>
          <a:lstStyle/>
          <a:p>
            <a:pPr algn="l">
              <a:lnSpc>
                <a:spcPct val="110000"/>
              </a:lnSpc>
              <a:spcAft>
                <a:spcPts val="0"/>
              </a:spcAft>
            </a:pPr>
            <a:r>
              <a:rPr sz="1000" b="0" i="0">
                <a:solidFill>
                  <a:srgbClr val="5B6B73"/>
                </a:solidFill>
                <a:latin typeface="Calibri"/>
              </a:rPr>
              <a:t>A confident prediction shows the disease name, confidence percentage, and a practical treatment suggestion.</a:t>
            </a:r>
          </a:p>
        </p:txBody>
      </p:sp>
      <p:sp>
        <p:nvSpPr>
          <p:cNvPr id="29" name="TextBox 28"/>
          <p:cNvSpPr txBox="1"/>
          <p:nvPr/>
        </p:nvSpPr>
        <p:spPr>
          <a:xfrm>
            <a:off x="6355080" y="1417320"/>
            <a:ext cx="5303520" cy="292608"/>
          </a:xfrm>
          <a:prstGeom prst="rect">
            <a:avLst/>
          </a:prstGeom>
          <a:noFill/>
        </p:spPr>
        <p:txBody>
          <a:bodyPr wrap="square" anchor="t" lIns="0" rIns="0" tIns="0" bIns="0">
            <a:spAutoFit/>
          </a:bodyPr>
          <a:lstStyle/>
          <a:p>
            <a:pPr algn="l">
              <a:lnSpc>
                <a:spcPct val="100000"/>
              </a:lnSpc>
              <a:spcAft>
                <a:spcPts val="0"/>
              </a:spcAft>
            </a:pPr>
            <a:r>
              <a:rPr sz="1200" b="1" i="0">
                <a:solidFill>
                  <a:srgbClr val="F9A825"/>
                </a:solidFill>
                <a:latin typeface="Calibri"/>
              </a:rPr>
              <a:t>WEATHER-BASED DISEASE RISK FORECAST</a:t>
            </a:r>
          </a:p>
        </p:txBody>
      </p:sp>
      <p:sp>
        <p:nvSpPr>
          <p:cNvPr id="30" name="TextBox 29"/>
          <p:cNvSpPr txBox="1"/>
          <p:nvPr/>
        </p:nvSpPr>
        <p:spPr>
          <a:xfrm>
            <a:off x="6355080" y="1783080"/>
            <a:ext cx="5349240" cy="594360"/>
          </a:xfrm>
          <a:prstGeom prst="rect">
            <a:avLst/>
          </a:prstGeom>
          <a:noFill/>
        </p:spPr>
        <p:txBody>
          <a:bodyPr wrap="square" anchor="t" lIns="0" rIns="0" tIns="0" bIns="0">
            <a:spAutoFit/>
          </a:bodyPr>
          <a:lstStyle/>
          <a:p>
            <a:pPr algn="l">
              <a:lnSpc>
                <a:spcPct val="120000"/>
              </a:lnSpc>
              <a:spcAft>
                <a:spcPts val="0"/>
              </a:spcAft>
            </a:pPr>
            <a:r>
              <a:rPr sz="1100" b="0" i="0">
                <a:solidFill>
                  <a:srgbClr val="2C3E50"/>
                </a:solidFill>
                <a:latin typeface="Calibri"/>
              </a:rPr>
              <a:t>The system reads humidity, temperature and rainfall for a region and predicts disease risk — so a farmer gets a warning before any symptom is visible.</a:t>
            </a:r>
          </a:p>
        </p:txBody>
      </p:sp>
      <p:sp>
        <p:nvSpPr>
          <p:cNvPr id="31" name="Rectangle 30"/>
          <p:cNvSpPr/>
          <p:nvPr/>
        </p:nvSpPr>
        <p:spPr>
          <a:xfrm>
            <a:off x="6355080" y="2514600"/>
            <a:ext cx="128016" cy="1005840"/>
          </a:xfrm>
          <a:prstGeom prst="rect">
            <a:avLst/>
          </a:prstGeom>
          <a:solidFill>
            <a:srgbClr val="C06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483096" y="2514600"/>
            <a:ext cx="5230368" cy="1005840"/>
          </a:xfrm>
          <a:prstGeom prst="rect">
            <a:avLst/>
          </a:prstGeom>
          <a:solidFill>
            <a:srgbClr val="F4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675120" y="2587752"/>
            <a:ext cx="4846320" cy="256032"/>
          </a:xfrm>
          <a:prstGeom prst="rect">
            <a:avLst/>
          </a:prstGeom>
          <a:noFill/>
        </p:spPr>
        <p:txBody>
          <a:bodyPr wrap="square" anchor="t" lIns="0" rIns="0" tIns="0" bIns="0">
            <a:spAutoFit/>
          </a:bodyPr>
          <a:lstStyle/>
          <a:p>
            <a:pPr algn="l">
              <a:lnSpc>
                <a:spcPct val="100000"/>
              </a:lnSpc>
              <a:spcAft>
                <a:spcPts val="0"/>
              </a:spcAft>
            </a:pPr>
            <a:r>
              <a:rPr sz="1250" b="1" i="0">
                <a:solidFill>
                  <a:srgbClr val="1B4332"/>
                </a:solidFill>
                <a:latin typeface="Calibri"/>
              </a:rPr>
              <a:t>High Risk</a:t>
            </a:r>
          </a:p>
        </p:txBody>
      </p:sp>
      <p:sp>
        <p:nvSpPr>
          <p:cNvPr id="34" name="TextBox 33"/>
          <p:cNvSpPr txBox="1"/>
          <p:nvPr/>
        </p:nvSpPr>
        <p:spPr>
          <a:xfrm>
            <a:off x="6675120" y="2862072"/>
            <a:ext cx="4846320" cy="274320"/>
          </a:xfrm>
          <a:prstGeom prst="rect">
            <a:avLst/>
          </a:prstGeom>
          <a:noFill/>
        </p:spPr>
        <p:txBody>
          <a:bodyPr wrap="square" anchor="t" lIns="0" rIns="0" tIns="0" bIns="0">
            <a:spAutoFit/>
          </a:bodyPr>
          <a:lstStyle/>
          <a:p>
            <a:pPr algn="l">
              <a:lnSpc>
                <a:spcPct val="100000"/>
              </a:lnSpc>
              <a:spcAft>
                <a:spcPts val="0"/>
              </a:spcAft>
            </a:pPr>
            <a:r>
              <a:rPr sz="950" b="0" i="0">
                <a:solidFill>
                  <a:srgbClr val="5B6B73"/>
                </a:solidFill>
                <a:latin typeface="Calibri"/>
              </a:rPr>
              <a:t>Conditions: Humidity ≥ 80%, temperature 20-30°C</a:t>
            </a:r>
          </a:p>
        </p:txBody>
      </p:sp>
      <p:sp>
        <p:nvSpPr>
          <p:cNvPr id="35" name="TextBox 34"/>
          <p:cNvSpPr txBox="1"/>
          <p:nvPr/>
        </p:nvSpPr>
        <p:spPr>
          <a:xfrm>
            <a:off x="6675120" y="3136392"/>
            <a:ext cx="4846320" cy="347472"/>
          </a:xfrm>
          <a:prstGeom prst="rect">
            <a:avLst/>
          </a:prstGeom>
          <a:noFill/>
        </p:spPr>
        <p:txBody>
          <a:bodyPr wrap="square" anchor="t" lIns="0" rIns="0" tIns="0" bIns="0">
            <a:spAutoFit/>
          </a:bodyPr>
          <a:lstStyle/>
          <a:p>
            <a:pPr algn="l">
              <a:lnSpc>
                <a:spcPct val="110000"/>
              </a:lnSpc>
              <a:spcAft>
                <a:spcPts val="0"/>
              </a:spcAft>
            </a:pPr>
            <a:r>
              <a:rPr sz="950" b="0" i="0">
                <a:solidFill>
                  <a:srgbClr val="2C3E50"/>
                </a:solidFill>
                <a:latin typeface="Calibri"/>
              </a:rPr>
              <a:t>Watch for: Rice Blast, Bacterial Blight, Mango Anthracnose, Sugarcane Rust</a:t>
            </a:r>
          </a:p>
        </p:txBody>
      </p:sp>
      <p:sp>
        <p:nvSpPr>
          <p:cNvPr id="36" name="Rectangle 35"/>
          <p:cNvSpPr/>
          <p:nvPr/>
        </p:nvSpPr>
        <p:spPr>
          <a:xfrm>
            <a:off x="6355080" y="3630168"/>
            <a:ext cx="128016" cy="100584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483096" y="3630168"/>
            <a:ext cx="5230368" cy="1005840"/>
          </a:xfrm>
          <a:prstGeom prst="rect">
            <a:avLst/>
          </a:prstGeom>
          <a:solidFill>
            <a:srgbClr val="F4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675120" y="3703320"/>
            <a:ext cx="4846320" cy="256032"/>
          </a:xfrm>
          <a:prstGeom prst="rect">
            <a:avLst/>
          </a:prstGeom>
          <a:noFill/>
        </p:spPr>
        <p:txBody>
          <a:bodyPr wrap="square" anchor="t" lIns="0" rIns="0" tIns="0" bIns="0">
            <a:spAutoFit/>
          </a:bodyPr>
          <a:lstStyle/>
          <a:p>
            <a:pPr algn="l">
              <a:lnSpc>
                <a:spcPct val="100000"/>
              </a:lnSpc>
              <a:spcAft>
                <a:spcPts val="0"/>
              </a:spcAft>
            </a:pPr>
            <a:r>
              <a:rPr sz="1250" b="1" i="0">
                <a:solidFill>
                  <a:srgbClr val="1B4332"/>
                </a:solidFill>
                <a:latin typeface="Calibri"/>
              </a:rPr>
              <a:t>Moderate Risk</a:t>
            </a:r>
          </a:p>
        </p:txBody>
      </p:sp>
      <p:sp>
        <p:nvSpPr>
          <p:cNvPr id="39" name="TextBox 38"/>
          <p:cNvSpPr txBox="1"/>
          <p:nvPr/>
        </p:nvSpPr>
        <p:spPr>
          <a:xfrm>
            <a:off x="6675120" y="3977639"/>
            <a:ext cx="4846320" cy="274320"/>
          </a:xfrm>
          <a:prstGeom prst="rect">
            <a:avLst/>
          </a:prstGeom>
          <a:noFill/>
        </p:spPr>
        <p:txBody>
          <a:bodyPr wrap="square" anchor="t" lIns="0" rIns="0" tIns="0" bIns="0">
            <a:spAutoFit/>
          </a:bodyPr>
          <a:lstStyle/>
          <a:p>
            <a:pPr algn="l">
              <a:lnSpc>
                <a:spcPct val="100000"/>
              </a:lnSpc>
              <a:spcAft>
                <a:spcPts val="0"/>
              </a:spcAft>
            </a:pPr>
            <a:r>
              <a:rPr sz="950" b="0" i="0">
                <a:solidFill>
                  <a:srgbClr val="5B6B73"/>
                </a:solidFill>
                <a:latin typeface="Calibri"/>
              </a:rPr>
              <a:t>Conditions: Humidity ≥ 70% with rainfall ≥ 2.5mm</a:t>
            </a:r>
          </a:p>
        </p:txBody>
      </p:sp>
      <p:sp>
        <p:nvSpPr>
          <p:cNvPr id="40" name="TextBox 39"/>
          <p:cNvSpPr txBox="1"/>
          <p:nvPr/>
        </p:nvSpPr>
        <p:spPr>
          <a:xfrm>
            <a:off x="6675120" y="4251959"/>
            <a:ext cx="4846320" cy="347472"/>
          </a:xfrm>
          <a:prstGeom prst="rect">
            <a:avLst/>
          </a:prstGeom>
          <a:noFill/>
        </p:spPr>
        <p:txBody>
          <a:bodyPr wrap="square" anchor="t" lIns="0" rIns="0" tIns="0" bIns="0">
            <a:spAutoFit/>
          </a:bodyPr>
          <a:lstStyle/>
          <a:p>
            <a:pPr algn="l">
              <a:lnSpc>
                <a:spcPct val="110000"/>
              </a:lnSpc>
              <a:spcAft>
                <a:spcPts val="0"/>
              </a:spcAft>
            </a:pPr>
            <a:r>
              <a:rPr sz="950" b="0" i="0">
                <a:solidFill>
                  <a:srgbClr val="2C3E50"/>
                </a:solidFill>
                <a:latin typeface="Calibri"/>
              </a:rPr>
              <a:t>Watch for: Sugarcane Red Rot, Banana Sigatoka, Coconut Leaf Rot</a:t>
            </a:r>
          </a:p>
        </p:txBody>
      </p:sp>
      <p:sp>
        <p:nvSpPr>
          <p:cNvPr id="41" name="Rectangle 40"/>
          <p:cNvSpPr/>
          <p:nvPr/>
        </p:nvSpPr>
        <p:spPr>
          <a:xfrm>
            <a:off x="6355080" y="4745736"/>
            <a:ext cx="128016" cy="10058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483096" y="4745736"/>
            <a:ext cx="5230368" cy="1005840"/>
          </a:xfrm>
          <a:prstGeom prst="rect">
            <a:avLst/>
          </a:prstGeom>
          <a:solidFill>
            <a:srgbClr val="F4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675120" y="4818888"/>
            <a:ext cx="4846320" cy="256032"/>
          </a:xfrm>
          <a:prstGeom prst="rect">
            <a:avLst/>
          </a:prstGeom>
          <a:noFill/>
        </p:spPr>
        <p:txBody>
          <a:bodyPr wrap="square" anchor="t" lIns="0" rIns="0" tIns="0" bIns="0">
            <a:spAutoFit/>
          </a:bodyPr>
          <a:lstStyle/>
          <a:p>
            <a:pPr algn="l">
              <a:lnSpc>
                <a:spcPct val="100000"/>
              </a:lnSpc>
              <a:spcAft>
                <a:spcPts val="0"/>
              </a:spcAft>
            </a:pPr>
            <a:r>
              <a:rPr sz="1250" b="1" i="0">
                <a:solidFill>
                  <a:srgbClr val="1B4332"/>
                </a:solidFill>
                <a:latin typeface="Calibri"/>
              </a:rPr>
              <a:t>Low Risk</a:t>
            </a:r>
          </a:p>
        </p:txBody>
      </p:sp>
      <p:sp>
        <p:nvSpPr>
          <p:cNvPr id="44" name="TextBox 43"/>
          <p:cNvSpPr txBox="1"/>
          <p:nvPr/>
        </p:nvSpPr>
        <p:spPr>
          <a:xfrm>
            <a:off x="6675120" y="5093207"/>
            <a:ext cx="4846320" cy="274320"/>
          </a:xfrm>
          <a:prstGeom prst="rect">
            <a:avLst/>
          </a:prstGeom>
          <a:noFill/>
        </p:spPr>
        <p:txBody>
          <a:bodyPr wrap="square" anchor="t" lIns="0" rIns="0" tIns="0" bIns="0">
            <a:spAutoFit/>
          </a:bodyPr>
          <a:lstStyle/>
          <a:p>
            <a:pPr algn="l">
              <a:lnSpc>
                <a:spcPct val="100000"/>
              </a:lnSpc>
              <a:spcAft>
                <a:spcPts val="0"/>
              </a:spcAft>
            </a:pPr>
            <a:r>
              <a:rPr sz="950" b="0" i="0">
                <a:solidFill>
                  <a:srgbClr val="5B6B73"/>
                </a:solidFill>
                <a:latin typeface="Calibri"/>
              </a:rPr>
              <a:t>Conditions: Hot and dry conditions, or none of the above</a:t>
            </a:r>
          </a:p>
        </p:txBody>
      </p:sp>
      <p:sp>
        <p:nvSpPr>
          <p:cNvPr id="45" name="TextBox 44"/>
          <p:cNvSpPr txBox="1"/>
          <p:nvPr/>
        </p:nvSpPr>
        <p:spPr>
          <a:xfrm>
            <a:off x="6675120" y="5367527"/>
            <a:ext cx="4846320" cy="347472"/>
          </a:xfrm>
          <a:prstGeom prst="rect">
            <a:avLst/>
          </a:prstGeom>
          <a:noFill/>
        </p:spPr>
        <p:txBody>
          <a:bodyPr wrap="square" anchor="t" lIns="0" rIns="0" tIns="0" bIns="0">
            <a:spAutoFit/>
          </a:bodyPr>
          <a:lstStyle/>
          <a:p>
            <a:pPr algn="l">
              <a:lnSpc>
                <a:spcPct val="110000"/>
              </a:lnSpc>
              <a:spcAft>
                <a:spcPts val="0"/>
              </a:spcAft>
            </a:pPr>
            <a:r>
              <a:rPr sz="950" b="0" i="0">
                <a:solidFill>
                  <a:srgbClr val="2C3E50"/>
                </a:solidFill>
                <a:latin typeface="Calibri"/>
              </a:rPr>
              <a:t>Watch for: No specific elevated risk — routine monitoring advised</a:t>
            </a:r>
          </a:p>
        </p:txBody>
      </p:sp>
      <p:sp>
        <p:nvSpPr>
          <p:cNvPr id="46" name="TextBox 45"/>
          <p:cNvSpPr txBox="1"/>
          <p:nvPr/>
        </p:nvSpPr>
        <p:spPr>
          <a:xfrm>
            <a:off x="11475720" y="6528816"/>
            <a:ext cx="548640" cy="256032"/>
          </a:xfrm>
          <a:prstGeom prst="rect">
            <a:avLst/>
          </a:prstGeom>
          <a:noFill/>
        </p:spPr>
        <p:txBody>
          <a:bodyPr wrap="square" anchor="t" lIns="0" rIns="0" tIns="0" bIns="0">
            <a:spAutoFit/>
          </a:bodyPr>
          <a:lstStyle/>
          <a:p>
            <a:pPr algn="r">
              <a:lnSpc>
                <a:spcPct val="100000"/>
              </a:lnSpc>
              <a:spcAft>
                <a:spcPts val="0"/>
              </a:spcAft>
            </a:pPr>
            <a:r>
              <a:rPr sz="850" b="0" i="0">
                <a:solidFill>
                  <a:srgbClr val="5B6B73"/>
                </a:solidFill>
                <a:latin typeface="Calibri"/>
              </a:rPr>
              <a:t>06 /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7315200" cy="292608"/>
          </a:xfrm>
          <a:prstGeom prst="rect">
            <a:avLst/>
          </a:prstGeom>
          <a:noFill/>
        </p:spPr>
        <p:txBody>
          <a:bodyPr wrap="square" anchor="t" lIns="0" rIns="0" tIns="0" bIns="0">
            <a:spAutoFit/>
          </a:bodyPr>
          <a:lstStyle/>
          <a:p>
            <a:pPr algn="l">
              <a:lnSpc>
                <a:spcPct val="100000"/>
              </a:lnSpc>
              <a:spcAft>
                <a:spcPts val="0"/>
              </a:spcAft>
            </a:pPr>
            <a:r>
              <a:rPr sz="1200" b="1" i="0">
                <a:solidFill>
                  <a:srgbClr val="F9A825"/>
                </a:solidFill>
                <a:latin typeface="Calibri"/>
              </a:rPr>
              <a:t>ANSWERING THE KEY QUESTION</a:t>
            </a:r>
          </a:p>
        </p:txBody>
      </p:sp>
      <p:sp>
        <p:nvSpPr>
          <p:cNvPr id="5" name="TextBox 4"/>
          <p:cNvSpPr txBox="1"/>
          <p:nvPr/>
        </p:nvSpPr>
        <p:spPr>
          <a:xfrm>
            <a:off x="502920" y="548640"/>
            <a:ext cx="10607040" cy="621792"/>
          </a:xfrm>
          <a:prstGeom prst="rect">
            <a:avLst/>
          </a:prstGeom>
          <a:noFill/>
        </p:spPr>
        <p:txBody>
          <a:bodyPr wrap="square" anchor="t" lIns="0" rIns="0" tIns="0" bIns="0">
            <a:spAutoFit/>
          </a:bodyPr>
          <a:lstStyle/>
          <a:p>
            <a:pPr algn="l">
              <a:lnSpc>
                <a:spcPct val="100000"/>
              </a:lnSpc>
              <a:spcAft>
                <a:spcPts val="0"/>
              </a:spcAft>
            </a:pPr>
            <a:r>
              <a:rPr sz="2600" b="1" i="0">
                <a:solidFill>
                  <a:srgbClr val="1B4332"/>
                </a:solidFill>
                <a:latin typeface="Calibri"/>
              </a:rPr>
              <a:t>What If a New Disease Appears?</a:t>
            </a:r>
          </a:p>
        </p:txBody>
      </p:sp>
      <p:sp>
        <p:nvSpPr>
          <p:cNvPr id="6" name="Rectangle 5"/>
          <p:cNvSpPr/>
          <p:nvPr/>
        </p:nvSpPr>
        <p:spPr>
          <a:xfrm>
            <a:off x="502920" y="1170432"/>
            <a:ext cx="1005840" cy="3810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spcAft>
                <a:spcPts val="0"/>
              </a:spcAft>
            </a:pPr>
            <a:r>
              <a:rPr sz="850" b="0" i="0">
                <a:solidFill>
                  <a:srgbClr val="5B6B73"/>
                </a:solidFill>
                <a:latin typeface="Calibri"/>
              </a:rPr>
              <a:t>Crop Recommendation &amp; Disease Detection System</a:t>
            </a:r>
          </a:p>
        </p:txBody>
      </p:sp>
      <p:sp>
        <p:nvSpPr>
          <p:cNvPr id="8" name="Rounded Rectangle 7"/>
          <p:cNvSpPr/>
          <p:nvPr/>
        </p:nvSpPr>
        <p:spPr>
          <a:xfrm>
            <a:off x="502920" y="1417320"/>
            <a:ext cx="11183112" cy="621792"/>
          </a:xfrm>
          <a:prstGeom prst="roundRect">
            <a:avLst>
              <a:gd name="adj" fmla="val 12000"/>
            </a:avLst>
          </a:prstGeom>
          <a:solidFill>
            <a:srgbClr val="FFF8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27048"/>
            <a:ext cx="10607040" cy="411480"/>
          </a:xfrm>
          <a:prstGeom prst="rect">
            <a:avLst/>
          </a:prstGeom>
          <a:noFill/>
        </p:spPr>
        <p:txBody>
          <a:bodyPr wrap="square" anchor="t" lIns="0" rIns="0" tIns="0" bIns="0">
            <a:spAutoFit/>
          </a:bodyPr>
          <a:lstStyle/>
          <a:p>
            <a:pPr algn="ctr">
              <a:lnSpc>
                <a:spcPct val="100000"/>
              </a:lnSpc>
              <a:spcAft>
                <a:spcPts val="0"/>
              </a:spcAft>
            </a:pPr>
            <a:r>
              <a:rPr sz="1400" b="1" i="1">
                <a:solidFill>
                  <a:srgbClr val="1B4332"/>
                </a:solidFill>
                <a:latin typeface="Calibri"/>
              </a:rPr>
              <a:t>“Our model only knows 31 diseases — what happens if a genuinely new one appears?”</a:t>
            </a:r>
          </a:p>
        </p:txBody>
      </p:sp>
      <p:sp>
        <p:nvSpPr>
          <p:cNvPr id="10" name="Rounded Rectangle 9"/>
          <p:cNvSpPr/>
          <p:nvPr/>
        </p:nvSpPr>
        <p:spPr>
          <a:xfrm>
            <a:off x="502920" y="2286000"/>
            <a:ext cx="2670048" cy="3703320"/>
          </a:xfrm>
          <a:prstGeom prst="roundRect">
            <a:avLst>
              <a:gd name="adj" fmla="val 7000"/>
            </a:avLst>
          </a:prstGeom>
          <a:solidFill>
            <a:srgbClr val="FFFFFF"/>
          </a:solidFill>
          <a:ln w="15875">
            <a:solidFill>
              <a:srgbClr val="DCE6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600200" y="2542032"/>
            <a:ext cx="475488" cy="475488"/>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00" b="1">
                <a:solidFill>
                  <a:srgbClr val="FFFFFF"/>
                </a:solidFill>
              </a:rPr>
              <a:t>1</a:t>
            </a:r>
          </a:p>
        </p:txBody>
      </p:sp>
      <p:sp>
        <p:nvSpPr>
          <p:cNvPr id="12" name="TextBox 11"/>
          <p:cNvSpPr txBox="1"/>
          <p:nvPr/>
        </p:nvSpPr>
        <p:spPr>
          <a:xfrm>
            <a:off x="667512" y="3200400"/>
            <a:ext cx="2340864" cy="594360"/>
          </a:xfrm>
          <a:prstGeom prst="rect">
            <a:avLst/>
          </a:prstGeom>
          <a:noFill/>
        </p:spPr>
        <p:txBody>
          <a:bodyPr wrap="square" anchor="t" lIns="0" rIns="0" tIns="0" bIns="0">
            <a:spAutoFit/>
          </a:bodyPr>
          <a:lstStyle/>
          <a:p>
            <a:pPr algn="ctr">
              <a:lnSpc>
                <a:spcPct val="105000"/>
              </a:lnSpc>
              <a:spcAft>
                <a:spcPts val="0"/>
              </a:spcAft>
            </a:pPr>
            <a:r>
              <a:rPr sz="1300" b="1" i="0">
                <a:solidFill>
                  <a:srgbClr val="1B4332"/>
                </a:solidFill>
                <a:latin typeface="Calibri"/>
              </a:rPr>
              <a:t>Confidence Check</a:t>
            </a:r>
          </a:p>
        </p:txBody>
      </p:sp>
      <p:sp>
        <p:nvSpPr>
          <p:cNvPr id="13" name="TextBox 12"/>
          <p:cNvSpPr txBox="1"/>
          <p:nvPr/>
        </p:nvSpPr>
        <p:spPr>
          <a:xfrm>
            <a:off x="685800" y="3794760"/>
            <a:ext cx="2304288" cy="2103120"/>
          </a:xfrm>
          <a:prstGeom prst="rect">
            <a:avLst/>
          </a:prstGeom>
          <a:noFill/>
        </p:spPr>
        <p:txBody>
          <a:bodyPr wrap="square" anchor="t" lIns="0" rIns="0" tIns="0" bIns="0">
            <a:spAutoFit/>
          </a:bodyPr>
          <a:lstStyle/>
          <a:p>
            <a:pPr algn="ctr">
              <a:lnSpc>
                <a:spcPct val="118000"/>
              </a:lnSpc>
              <a:spcAft>
                <a:spcPts val="0"/>
              </a:spcAft>
            </a:pPr>
            <a:r>
              <a:rPr sz="1000" b="0" i="0">
                <a:solidFill>
                  <a:srgbClr val="5B6B73"/>
                </a:solidFill>
                <a:latin typeface="Calibri"/>
              </a:rPr>
              <a:t>Every prediction carries a confidence score from the CNN's softmax output. If it falls below our 60% threshold, the prediction is not trusted.</a:t>
            </a:r>
          </a:p>
        </p:txBody>
      </p:sp>
      <p:sp>
        <p:nvSpPr>
          <p:cNvPr id="14" name="Right Arrow 13"/>
          <p:cNvSpPr/>
          <p:nvPr/>
        </p:nvSpPr>
        <p:spPr>
          <a:xfrm>
            <a:off x="3182112" y="4046220"/>
            <a:ext cx="146304" cy="182880"/>
          </a:xfrm>
          <a:prstGeom prst="rightArrow">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337560" y="2286000"/>
            <a:ext cx="2670048" cy="3703320"/>
          </a:xfrm>
          <a:prstGeom prst="roundRect">
            <a:avLst>
              <a:gd name="adj" fmla="val 7000"/>
            </a:avLst>
          </a:prstGeom>
          <a:solidFill>
            <a:srgbClr val="FFFFFF"/>
          </a:solidFill>
          <a:ln w="15875">
            <a:solidFill>
              <a:srgbClr val="DCE6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34840" y="2542032"/>
            <a:ext cx="475488" cy="475488"/>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00" b="1">
                <a:solidFill>
                  <a:srgbClr val="FFFFFF"/>
                </a:solidFill>
              </a:rPr>
              <a:t>2</a:t>
            </a:r>
          </a:p>
        </p:txBody>
      </p:sp>
      <p:sp>
        <p:nvSpPr>
          <p:cNvPr id="17" name="TextBox 16"/>
          <p:cNvSpPr txBox="1"/>
          <p:nvPr/>
        </p:nvSpPr>
        <p:spPr>
          <a:xfrm>
            <a:off x="3502152" y="3200400"/>
            <a:ext cx="2340864" cy="594360"/>
          </a:xfrm>
          <a:prstGeom prst="rect">
            <a:avLst/>
          </a:prstGeom>
          <a:noFill/>
        </p:spPr>
        <p:txBody>
          <a:bodyPr wrap="square" anchor="t" lIns="0" rIns="0" tIns="0" bIns="0">
            <a:spAutoFit/>
          </a:bodyPr>
          <a:lstStyle/>
          <a:p>
            <a:pPr algn="ctr">
              <a:lnSpc>
                <a:spcPct val="105000"/>
              </a:lnSpc>
              <a:spcAft>
                <a:spcPts val="0"/>
              </a:spcAft>
            </a:pPr>
            <a:r>
              <a:rPr sz="1300" b="1" i="0">
                <a:solidFill>
                  <a:srgbClr val="1B4332"/>
                </a:solidFill>
                <a:latin typeface="Calibri"/>
              </a:rPr>
              <a:t>Flag as Unknown</a:t>
            </a:r>
          </a:p>
        </p:txBody>
      </p:sp>
      <p:sp>
        <p:nvSpPr>
          <p:cNvPr id="18" name="TextBox 17"/>
          <p:cNvSpPr txBox="1"/>
          <p:nvPr/>
        </p:nvSpPr>
        <p:spPr>
          <a:xfrm>
            <a:off x="3520440" y="3794760"/>
            <a:ext cx="2304288" cy="2103120"/>
          </a:xfrm>
          <a:prstGeom prst="rect">
            <a:avLst/>
          </a:prstGeom>
          <a:noFill/>
        </p:spPr>
        <p:txBody>
          <a:bodyPr wrap="square" anchor="t" lIns="0" rIns="0" tIns="0" bIns="0">
            <a:spAutoFit/>
          </a:bodyPr>
          <a:lstStyle/>
          <a:p>
            <a:pPr algn="ctr">
              <a:lnSpc>
                <a:spcPct val="118000"/>
              </a:lnSpc>
              <a:spcAft>
                <a:spcPts val="0"/>
              </a:spcAft>
            </a:pPr>
            <a:r>
              <a:rPr sz="1000" b="0" i="0">
                <a:solidFill>
                  <a:srgbClr val="5B6B73"/>
                </a:solidFill>
                <a:latin typeface="Calibri"/>
              </a:rPr>
              <a:t>Instead of forcing the image into one of the 31 known categories, the system shows “Unrecognized Condition” and logs the image, with the model's rejected guess, to a review table.</a:t>
            </a:r>
          </a:p>
        </p:txBody>
      </p:sp>
      <p:sp>
        <p:nvSpPr>
          <p:cNvPr id="19" name="Right Arrow 18"/>
          <p:cNvSpPr/>
          <p:nvPr/>
        </p:nvSpPr>
        <p:spPr>
          <a:xfrm>
            <a:off x="6016752" y="4046220"/>
            <a:ext cx="146304" cy="182880"/>
          </a:xfrm>
          <a:prstGeom prst="rightArrow">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172200" y="2286000"/>
            <a:ext cx="2670048" cy="3703320"/>
          </a:xfrm>
          <a:prstGeom prst="roundRect">
            <a:avLst>
              <a:gd name="adj" fmla="val 7000"/>
            </a:avLst>
          </a:prstGeom>
          <a:solidFill>
            <a:srgbClr val="FFFFFF"/>
          </a:solidFill>
          <a:ln w="15875">
            <a:solidFill>
              <a:srgbClr val="DCE6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269480" y="2542032"/>
            <a:ext cx="475488" cy="475488"/>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00" b="1">
                <a:solidFill>
                  <a:srgbClr val="FFFFFF"/>
                </a:solidFill>
              </a:rPr>
              <a:t>3</a:t>
            </a:r>
          </a:p>
        </p:txBody>
      </p:sp>
      <p:sp>
        <p:nvSpPr>
          <p:cNvPr id="22" name="TextBox 21"/>
          <p:cNvSpPr txBox="1"/>
          <p:nvPr/>
        </p:nvSpPr>
        <p:spPr>
          <a:xfrm>
            <a:off x="6336792" y="3200400"/>
            <a:ext cx="2340864" cy="594360"/>
          </a:xfrm>
          <a:prstGeom prst="rect">
            <a:avLst/>
          </a:prstGeom>
          <a:noFill/>
        </p:spPr>
        <p:txBody>
          <a:bodyPr wrap="square" anchor="t" lIns="0" rIns="0" tIns="0" bIns="0">
            <a:spAutoFit/>
          </a:bodyPr>
          <a:lstStyle/>
          <a:p>
            <a:pPr algn="ctr">
              <a:lnSpc>
                <a:spcPct val="105000"/>
              </a:lnSpc>
              <a:spcAft>
                <a:spcPts val="0"/>
              </a:spcAft>
            </a:pPr>
            <a:r>
              <a:rPr sz="1300" b="1" i="0">
                <a:solidFill>
                  <a:srgbClr val="1B4332"/>
                </a:solidFill>
                <a:latin typeface="Calibri"/>
              </a:rPr>
              <a:t>User Feedback</a:t>
            </a:r>
          </a:p>
        </p:txBody>
      </p:sp>
      <p:sp>
        <p:nvSpPr>
          <p:cNvPr id="23" name="TextBox 22"/>
          <p:cNvSpPr txBox="1"/>
          <p:nvPr/>
        </p:nvSpPr>
        <p:spPr>
          <a:xfrm>
            <a:off x="6355080" y="3794760"/>
            <a:ext cx="2304288" cy="2103120"/>
          </a:xfrm>
          <a:prstGeom prst="rect">
            <a:avLst/>
          </a:prstGeom>
          <a:noFill/>
        </p:spPr>
        <p:txBody>
          <a:bodyPr wrap="square" anchor="t" lIns="0" rIns="0" tIns="0" bIns="0">
            <a:spAutoFit/>
          </a:bodyPr>
          <a:lstStyle/>
          <a:p>
            <a:pPr algn="ctr">
              <a:lnSpc>
                <a:spcPct val="118000"/>
              </a:lnSpc>
              <a:spcAft>
                <a:spcPts val="0"/>
              </a:spcAft>
            </a:pPr>
            <a:r>
              <a:rPr sz="1000" b="0" i="0">
                <a:solidFill>
                  <a:srgbClr val="5B6B73"/>
                </a:solidFill>
                <a:latin typeface="Calibri"/>
              </a:rPr>
              <a:t>The farmer can optionally type what they think the condition actually is — turning an uncertain case into a useful, labeled data point.</a:t>
            </a:r>
          </a:p>
        </p:txBody>
      </p:sp>
      <p:sp>
        <p:nvSpPr>
          <p:cNvPr id="24" name="Right Arrow 23"/>
          <p:cNvSpPr/>
          <p:nvPr/>
        </p:nvSpPr>
        <p:spPr>
          <a:xfrm>
            <a:off x="8851392" y="4046220"/>
            <a:ext cx="146304" cy="182880"/>
          </a:xfrm>
          <a:prstGeom prst="rightArrow">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006840" y="2286000"/>
            <a:ext cx="2670048" cy="3703320"/>
          </a:xfrm>
          <a:prstGeom prst="roundRect">
            <a:avLst>
              <a:gd name="adj" fmla="val 7000"/>
            </a:avLst>
          </a:prstGeom>
          <a:solidFill>
            <a:srgbClr val="FFFFFF"/>
          </a:solidFill>
          <a:ln w="15875">
            <a:solidFill>
              <a:srgbClr val="DCE6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104120" y="2542032"/>
            <a:ext cx="475488" cy="475488"/>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00" b="1">
                <a:solidFill>
                  <a:srgbClr val="FFFFFF"/>
                </a:solidFill>
              </a:rPr>
              <a:t>4</a:t>
            </a:r>
          </a:p>
        </p:txBody>
      </p:sp>
      <p:sp>
        <p:nvSpPr>
          <p:cNvPr id="27" name="TextBox 26"/>
          <p:cNvSpPr txBox="1"/>
          <p:nvPr/>
        </p:nvSpPr>
        <p:spPr>
          <a:xfrm>
            <a:off x="9171432" y="3200400"/>
            <a:ext cx="2340864" cy="594360"/>
          </a:xfrm>
          <a:prstGeom prst="rect">
            <a:avLst/>
          </a:prstGeom>
          <a:noFill/>
        </p:spPr>
        <p:txBody>
          <a:bodyPr wrap="square" anchor="t" lIns="0" rIns="0" tIns="0" bIns="0">
            <a:spAutoFit/>
          </a:bodyPr>
          <a:lstStyle/>
          <a:p>
            <a:pPr algn="ctr">
              <a:lnSpc>
                <a:spcPct val="105000"/>
              </a:lnSpc>
              <a:spcAft>
                <a:spcPts val="0"/>
              </a:spcAft>
            </a:pPr>
            <a:r>
              <a:rPr sz="1300" b="1" i="0">
                <a:solidFill>
                  <a:srgbClr val="1B4332"/>
                </a:solidFill>
                <a:latin typeface="Calibri"/>
              </a:rPr>
              <a:t>Admin Review</a:t>
            </a:r>
          </a:p>
        </p:txBody>
      </p:sp>
      <p:sp>
        <p:nvSpPr>
          <p:cNvPr id="28" name="TextBox 27"/>
          <p:cNvSpPr txBox="1"/>
          <p:nvPr/>
        </p:nvSpPr>
        <p:spPr>
          <a:xfrm>
            <a:off x="9189720" y="3794760"/>
            <a:ext cx="2304288" cy="2103120"/>
          </a:xfrm>
          <a:prstGeom prst="rect">
            <a:avLst/>
          </a:prstGeom>
          <a:noFill/>
        </p:spPr>
        <p:txBody>
          <a:bodyPr wrap="square" anchor="t" lIns="0" rIns="0" tIns="0" bIns="0">
            <a:spAutoFit/>
          </a:bodyPr>
          <a:lstStyle/>
          <a:p>
            <a:pPr algn="ctr">
              <a:lnSpc>
                <a:spcPct val="118000"/>
              </a:lnSpc>
              <a:spcAft>
                <a:spcPts val="0"/>
              </a:spcAft>
            </a:pPr>
            <a:r>
              <a:rPr sz="1000" b="0" i="0">
                <a:solidFill>
                  <a:srgbClr val="5B6B73"/>
                </a:solidFill>
                <a:latin typeface="Calibri"/>
              </a:rPr>
              <a:t>A dedicated admin dashboard lists every flagged case with its image, the model's guess, and the user's suggestion, ready to seed the next round of training.</a:t>
            </a:r>
          </a:p>
        </p:txBody>
      </p:sp>
      <p:sp>
        <p:nvSpPr>
          <p:cNvPr id="29" name="TextBox 28"/>
          <p:cNvSpPr txBox="1"/>
          <p:nvPr/>
        </p:nvSpPr>
        <p:spPr>
          <a:xfrm>
            <a:off x="11475720" y="6528816"/>
            <a:ext cx="548640" cy="256032"/>
          </a:xfrm>
          <a:prstGeom prst="rect">
            <a:avLst/>
          </a:prstGeom>
          <a:noFill/>
        </p:spPr>
        <p:txBody>
          <a:bodyPr wrap="square" anchor="t" lIns="0" rIns="0" tIns="0" bIns="0">
            <a:spAutoFit/>
          </a:bodyPr>
          <a:lstStyle/>
          <a:p>
            <a:pPr algn="r">
              <a:lnSpc>
                <a:spcPct val="100000"/>
              </a:lnSpc>
              <a:spcAft>
                <a:spcPts val="0"/>
              </a:spcAft>
            </a:pPr>
            <a:r>
              <a:rPr sz="850" b="0" i="0">
                <a:solidFill>
                  <a:srgbClr val="5B6B73"/>
                </a:solidFill>
                <a:latin typeface="Calibri"/>
              </a:rPr>
              <a:t>07 /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7315200" cy="292608"/>
          </a:xfrm>
          <a:prstGeom prst="rect">
            <a:avLst/>
          </a:prstGeom>
          <a:noFill/>
        </p:spPr>
        <p:txBody>
          <a:bodyPr wrap="square" anchor="t" lIns="0" rIns="0" tIns="0" bIns="0">
            <a:spAutoFit/>
          </a:bodyPr>
          <a:lstStyle/>
          <a:p>
            <a:pPr algn="l">
              <a:lnSpc>
                <a:spcPct val="100000"/>
              </a:lnSpc>
              <a:spcAft>
                <a:spcPts val="0"/>
              </a:spcAft>
            </a:pPr>
            <a:r>
              <a:rPr sz="1200" b="1" i="0">
                <a:solidFill>
                  <a:srgbClr val="2E7D32"/>
                </a:solidFill>
                <a:latin typeface="Calibri"/>
              </a:rPr>
              <a:t>BUILT WITH</a:t>
            </a:r>
          </a:p>
        </p:txBody>
      </p:sp>
      <p:sp>
        <p:nvSpPr>
          <p:cNvPr id="5" name="TextBox 4"/>
          <p:cNvSpPr txBox="1"/>
          <p:nvPr/>
        </p:nvSpPr>
        <p:spPr>
          <a:xfrm>
            <a:off x="502920" y="548640"/>
            <a:ext cx="10607040" cy="621792"/>
          </a:xfrm>
          <a:prstGeom prst="rect">
            <a:avLst/>
          </a:prstGeom>
          <a:noFill/>
        </p:spPr>
        <p:txBody>
          <a:bodyPr wrap="square" anchor="t" lIns="0" rIns="0" tIns="0" bIns="0">
            <a:spAutoFit/>
          </a:bodyPr>
          <a:lstStyle/>
          <a:p>
            <a:pPr algn="l">
              <a:lnSpc>
                <a:spcPct val="100000"/>
              </a:lnSpc>
              <a:spcAft>
                <a:spcPts val="0"/>
              </a:spcAft>
            </a:pPr>
            <a:r>
              <a:rPr sz="2600" b="1" i="0">
                <a:solidFill>
                  <a:srgbClr val="1B4332"/>
                </a:solidFill>
                <a:latin typeface="Calibri"/>
              </a:rPr>
              <a:t>Technology Stack</a:t>
            </a:r>
          </a:p>
        </p:txBody>
      </p:sp>
      <p:sp>
        <p:nvSpPr>
          <p:cNvPr id="6" name="Rectangle 5"/>
          <p:cNvSpPr/>
          <p:nvPr/>
        </p:nvSpPr>
        <p:spPr>
          <a:xfrm>
            <a:off x="502920" y="1170432"/>
            <a:ext cx="1005840" cy="381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spcAft>
                <a:spcPts val="0"/>
              </a:spcAft>
            </a:pPr>
            <a:r>
              <a:rPr sz="850" b="0" i="0">
                <a:solidFill>
                  <a:srgbClr val="5B6B73"/>
                </a:solidFill>
                <a:latin typeface="Calibri"/>
              </a:rPr>
              <a:t>Crop Recommendation &amp; Disease Detection System</a:t>
            </a:r>
          </a:p>
        </p:txBody>
      </p:sp>
      <p:sp>
        <p:nvSpPr>
          <p:cNvPr id="8" name="Rounded Rectangle 7"/>
          <p:cNvSpPr/>
          <p:nvPr/>
        </p:nvSpPr>
        <p:spPr>
          <a:xfrm>
            <a:off x="502920" y="1417320"/>
            <a:ext cx="5440680" cy="1078992"/>
          </a:xfrm>
          <a:prstGeom prst="roundRect">
            <a:avLst>
              <a:gd name="adj" fmla="val 8000"/>
            </a:avLst>
          </a:prstGeom>
          <a:solidFill>
            <a:srgbClr val="F4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417320"/>
            <a:ext cx="91440" cy="1078992"/>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508760"/>
            <a:ext cx="4983480" cy="237744"/>
          </a:xfrm>
          <a:prstGeom prst="rect">
            <a:avLst/>
          </a:prstGeom>
          <a:noFill/>
        </p:spPr>
        <p:txBody>
          <a:bodyPr wrap="square" anchor="t" lIns="0" rIns="0" tIns="0" bIns="0">
            <a:spAutoFit/>
          </a:bodyPr>
          <a:lstStyle/>
          <a:p>
            <a:pPr algn="l">
              <a:lnSpc>
                <a:spcPct val="100000"/>
              </a:lnSpc>
              <a:spcAft>
                <a:spcPts val="0"/>
              </a:spcAft>
            </a:pPr>
            <a:r>
              <a:rPr sz="1100" b="1" i="0">
                <a:solidFill>
                  <a:srgbClr val="2E7D32"/>
                </a:solidFill>
                <a:latin typeface="Calibri"/>
              </a:rPr>
              <a:t>Backend Framework</a:t>
            </a:r>
          </a:p>
        </p:txBody>
      </p:sp>
      <p:sp>
        <p:nvSpPr>
          <p:cNvPr id="11" name="TextBox 10"/>
          <p:cNvSpPr txBox="1"/>
          <p:nvPr/>
        </p:nvSpPr>
        <p:spPr>
          <a:xfrm>
            <a:off x="777240" y="1764792"/>
            <a:ext cx="4983480" cy="274320"/>
          </a:xfrm>
          <a:prstGeom prst="rect">
            <a:avLst/>
          </a:prstGeom>
          <a:noFill/>
        </p:spPr>
        <p:txBody>
          <a:bodyPr wrap="square" anchor="t" lIns="0" rIns="0" tIns="0" bIns="0">
            <a:spAutoFit/>
          </a:bodyPr>
          <a:lstStyle/>
          <a:p>
            <a:pPr algn="l">
              <a:lnSpc>
                <a:spcPct val="100000"/>
              </a:lnSpc>
              <a:spcAft>
                <a:spcPts val="0"/>
              </a:spcAft>
            </a:pPr>
            <a:r>
              <a:rPr sz="1300" b="1" i="0">
                <a:solidFill>
                  <a:srgbClr val="1B4332"/>
                </a:solidFill>
                <a:latin typeface="Calibri"/>
              </a:rPr>
              <a:t>Flask (Python)</a:t>
            </a:r>
          </a:p>
        </p:txBody>
      </p:sp>
      <p:sp>
        <p:nvSpPr>
          <p:cNvPr id="12" name="TextBox 11"/>
          <p:cNvSpPr txBox="1"/>
          <p:nvPr/>
        </p:nvSpPr>
        <p:spPr>
          <a:xfrm>
            <a:off x="777240" y="2057400"/>
            <a:ext cx="4983480" cy="384048"/>
          </a:xfrm>
          <a:prstGeom prst="rect">
            <a:avLst/>
          </a:prstGeom>
          <a:noFill/>
        </p:spPr>
        <p:txBody>
          <a:bodyPr wrap="square" anchor="t" lIns="0" rIns="0" tIns="0" bIns="0">
            <a:spAutoFit/>
          </a:bodyPr>
          <a:lstStyle/>
          <a:p>
            <a:pPr algn="l">
              <a:lnSpc>
                <a:spcPct val="105000"/>
              </a:lnSpc>
              <a:spcAft>
                <a:spcPts val="0"/>
              </a:spcAft>
            </a:pPr>
            <a:r>
              <a:rPr sz="900" b="0" i="0">
                <a:solidFill>
                  <a:srgbClr val="5B6B73"/>
                </a:solidFill>
                <a:latin typeface="Calibri"/>
              </a:rPr>
              <a:t>Routes every request — login, prediction, image upload — and renders the HTML pages.</a:t>
            </a:r>
          </a:p>
        </p:txBody>
      </p:sp>
      <p:sp>
        <p:nvSpPr>
          <p:cNvPr id="13" name="Rounded Rectangle 12"/>
          <p:cNvSpPr/>
          <p:nvPr/>
        </p:nvSpPr>
        <p:spPr>
          <a:xfrm>
            <a:off x="6245352" y="1417320"/>
            <a:ext cx="5440680" cy="1078992"/>
          </a:xfrm>
          <a:prstGeom prst="roundRect">
            <a:avLst>
              <a:gd name="adj" fmla="val 8000"/>
            </a:avLst>
          </a:prstGeom>
          <a:solidFill>
            <a:srgbClr val="F4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45352" y="1417320"/>
            <a:ext cx="91440" cy="1078992"/>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19672" y="1508760"/>
            <a:ext cx="4983480" cy="237744"/>
          </a:xfrm>
          <a:prstGeom prst="rect">
            <a:avLst/>
          </a:prstGeom>
          <a:noFill/>
        </p:spPr>
        <p:txBody>
          <a:bodyPr wrap="square" anchor="t" lIns="0" rIns="0" tIns="0" bIns="0">
            <a:spAutoFit/>
          </a:bodyPr>
          <a:lstStyle/>
          <a:p>
            <a:pPr algn="l">
              <a:lnSpc>
                <a:spcPct val="100000"/>
              </a:lnSpc>
              <a:spcAft>
                <a:spcPts val="0"/>
              </a:spcAft>
            </a:pPr>
            <a:r>
              <a:rPr sz="1100" b="1" i="0">
                <a:solidFill>
                  <a:srgbClr val="2E7D32"/>
                </a:solidFill>
                <a:latin typeface="Calibri"/>
              </a:rPr>
              <a:t>Machine Learning</a:t>
            </a:r>
          </a:p>
        </p:txBody>
      </p:sp>
      <p:sp>
        <p:nvSpPr>
          <p:cNvPr id="16" name="TextBox 15"/>
          <p:cNvSpPr txBox="1"/>
          <p:nvPr/>
        </p:nvSpPr>
        <p:spPr>
          <a:xfrm>
            <a:off x="6519672" y="1764792"/>
            <a:ext cx="4983480" cy="274320"/>
          </a:xfrm>
          <a:prstGeom prst="rect">
            <a:avLst/>
          </a:prstGeom>
          <a:noFill/>
        </p:spPr>
        <p:txBody>
          <a:bodyPr wrap="square" anchor="t" lIns="0" rIns="0" tIns="0" bIns="0">
            <a:spAutoFit/>
          </a:bodyPr>
          <a:lstStyle/>
          <a:p>
            <a:pPr algn="l">
              <a:lnSpc>
                <a:spcPct val="100000"/>
              </a:lnSpc>
              <a:spcAft>
                <a:spcPts val="0"/>
              </a:spcAft>
            </a:pPr>
            <a:r>
              <a:rPr sz="1300" b="1" i="0">
                <a:solidFill>
                  <a:srgbClr val="1B4332"/>
                </a:solidFill>
                <a:latin typeface="Calibri"/>
              </a:rPr>
              <a:t>scikit-learn — Random Forest</a:t>
            </a:r>
          </a:p>
        </p:txBody>
      </p:sp>
      <p:sp>
        <p:nvSpPr>
          <p:cNvPr id="17" name="TextBox 16"/>
          <p:cNvSpPr txBox="1"/>
          <p:nvPr/>
        </p:nvSpPr>
        <p:spPr>
          <a:xfrm>
            <a:off x="6519672" y="2057400"/>
            <a:ext cx="4983480" cy="384048"/>
          </a:xfrm>
          <a:prstGeom prst="rect">
            <a:avLst/>
          </a:prstGeom>
          <a:noFill/>
        </p:spPr>
        <p:txBody>
          <a:bodyPr wrap="square" anchor="t" lIns="0" rIns="0" tIns="0" bIns="0">
            <a:spAutoFit/>
          </a:bodyPr>
          <a:lstStyle/>
          <a:p>
            <a:pPr algn="l">
              <a:lnSpc>
                <a:spcPct val="105000"/>
              </a:lnSpc>
              <a:spcAft>
                <a:spcPts val="0"/>
              </a:spcAft>
            </a:pPr>
            <a:r>
              <a:rPr sz="900" b="0" i="0">
                <a:solidFill>
                  <a:srgbClr val="5B6B73"/>
                </a:solidFill>
                <a:latin typeface="Calibri"/>
              </a:rPr>
              <a:t>Powers the crop recommendation model, plus MinMax and Standard scalers for input normalization.</a:t>
            </a:r>
          </a:p>
        </p:txBody>
      </p:sp>
      <p:sp>
        <p:nvSpPr>
          <p:cNvPr id="18" name="Rounded Rectangle 17"/>
          <p:cNvSpPr/>
          <p:nvPr/>
        </p:nvSpPr>
        <p:spPr>
          <a:xfrm>
            <a:off x="502920" y="2569464"/>
            <a:ext cx="5440680" cy="1078992"/>
          </a:xfrm>
          <a:prstGeom prst="roundRect">
            <a:avLst>
              <a:gd name="adj" fmla="val 8000"/>
            </a:avLst>
          </a:prstGeom>
          <a:solidFill>
            <a:srgbClr val="F4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2569464"/>
            <a:ext cx="91440" cy="1078992"/>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2660904"/>
            <a:ext cx="4983480" cy="237744"/>
          </a:xfrm>
          <a:prstGeom prst="rect">
            <a:avLst/>
          </a:prstGeom>
          <a:noFill/>
        </p:spPr>
        <p:txBody>
          <a:bodyPr wrap="square" anchor="t" lIns="0" rIns="0" tIns="0" bIns="0">
            <a:spAutoFit/>
          </a:bodyPr>
          <a:lstStyle/>
          <a:p>
            <a:pPr algn="l">
              <a:lnSpc>
                <a:spcPct val="100000"/>
              </a:lnSpc>
              <a:spcAft>
                <a:spcPts val="0"/>
              </a:spcAft>
            </a:pPr>
            <a:r>
              <a:rPr sz="1100" b="1" i="0">
                <a:solidFill>
                  <a:srgbClr val="2E7D32"/>
                </a:solidFill>
                <a:latin typeface="Calibri"/>
              </a:rPr>
              <a:t>Deep Learning</a:t>
            </a:r>
          </a:p>
        </p:txBody>
      </p:sp>
      <p:sp>
        <p:nvSpPr>
          <p:cNvPr id="21" name="TextBox 20"/>
          <p:cNvSpPr txBox="1"/>
          <p:nvPr/>
        </p:nvSpPr>
        <p:spPr>
          <a:xfrm>
            <a:off x="777240" y="2916936"/>
            <a:ext cx="4983480" cy="274320"/>
          </a:xfrm>
          <a:prstGeom prst="rect">
            <a:avLst/>
          </a:prstGeom>
          <a:noFill/>
        </p:spPr>
        <p:txBody>
          <a:bodyPr wrap="square" anchor="t" lIns="0" rIns="0" tIns="0" bIns="0">
            <a:spAutoFit/>
          </a:bodyPr>
          <a:lstStyle/>
          <a:p>
            <a:pPr algn="l">
              <a:lnSpc>
                <a:spcPct val="100000"/>
              </a:lnSpc>
              <a:spcAft>
                <a:spcPts val="0"/>
              </a:spcAft>
            </a:pPr>
            <a:r>
              <a:rPr sz="1300" b="1" i="0">
                <a:solidFill>
                  <a:srgbClr val="1B4332"/>
                </a:solidFill>
                <a:latin typeface="Calibri"/>
              </a:rPr>
              <a:t>TensorFlow / Keras — CNN</a:t>
            </a:r>
          </a:p>
        </p:txBody>
      </p:sp>
      <p:sp>
        <p:nvSpPr>
          <p:cNvPr id="22" name="TextBox 21"/>
          <p:cNvSpPr txBox="1"/>
          <p:nvPr/>
        </p:nvSpPr>
        <p:spPr>
          <a:xfrm>
            <a:off x="777240" y="3209544"/>
            <a:ext cx="4983480" cy="384048"/>
          </a:xfrm>
          <a:prstGeom prst="rect">
            <a:avLst/>
          </a:prstGeom>
          <a:noFill/>
        </p:spPr>
        <p:txBody>
          <a:bodyPr wrap="square" anchor="t" lIns="0" rIns="0" tIns="0" bIns="0">
            <a:spAutoFit/>
          </a:bodyPr>
          <a:lstStyle/>
          <a:p>
            <a:pPr algn="l">
              <a:lnSpc>
                <a:spcPct val="105000"/>
              </a:lnSpc>
              <a:spcAft>
                <a:spcPts val="0"/>
              </a:spcAft>
            </a:pPr>
            <a:r>
              <a:rPr sz="900" b="0" i="0">
                <a:solidFill>
                  <a:srgbClr val="5B6B73"/>
                </a:solidFill>
                <a:latin typeface="Calibri"/>
              </a:rPr>
              <a:t>Powers the leaf-image disease classifier, with EfficientNet-style preprocessing.</a:t>
            </a:r>
          </a:p>
        </p:txBody>
      </p:sp>
      <p:sp>
        <p:nvSpPr>
          <p:cNvPr id="23" name="Rounded Rectangle 22"/>
          <p:cNvSpPr/>
          <p:nvPr/>
        </p:nvSpPr>
        <p:spPr>
          <a:xfrm>
            <a:off x="6245352" y="2569464"/>
            <a:ext cx="5440680" cy="1078992"/>
          </a:xfrm>
          <a:prstGeom prst="roundRect">
            <a:avLst>
              <a:gd name="adj" fmla="val 8000"/>
            </a:avLst>
          </a:prstGeom>
          <a:solidFill>
            <a:srgbClr val="F4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45352" y="2569464"/>
            <a:ext cx="91440" cy="1078992"/>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19672" y="2660904"/>
            <a:ext cx="4983480" cy="237744"/>
          </a:xfrm>
          <a:prstGeom prst="rect">
            <a:avLst/>
          </a:prstGeom>
          <a:noFill/>
        </p:spPr>
        <p:txBody>
          <a:bodyPr wrap="square" anchor="t" lIns="0" rIns="0" tIns="0" bIns="0">
            <a:spAutoFit/>
          </a:bodyPr>
          <a:lstStyle/>
          <a:p>
            <a:pPr algn="l">
              <a:lnSpc>
                <a:spcPct val="100000"/>
              </a:lnSpc>
              <a:spcAft>
                <a:spcPts val="0"/>
              </a:spcAft>
            </a:pPr>
            <a:r>
              <a:rPr sz="1100" b="1" i="0">
                <a:solidFill>
                  <a:srgbClr val="2E7D32"/>
                </a:solidFill>
                <a:latin typeface="Calibri"/>
              </a:rPr>
              <a:t>Database</a:t>
            </a:r>
          </a:p>
        </p:txBody>
      </p:sp>
      <p:sp>
        <p:nvSpPr>
          <p:cNvPr id="26" name="TextBox 25"/>
          <p:cNvSpPr txBox="1"/>
          <p:nvPr/>
        </p:nvSpPr>
        <p:spPr>
          <a:xfrm>
            <a:off x="6519672" y="2916936"/>
            <a:ext cx="4983480" cy="274320"/>
          </a:xfrm>
          <a:prstGeom prst="rect">
            <a:avLst/>
          </a:prstGeom>
          <a:noFill/>
        </p:spPr>
        <p:txBody>
          <a:bodyPr wrap="square" anchor="t" lIns="0" rIns="0" tIns="0" bIns="0">
            <a:spAutoFit/>
          </a:bodyPr>
          <a:lstStyle/>
          <a:p>
            <a:pPr algn="l">
              <a:lnSpc>
                <a:spcPct val="100000"/>
              </a:lnSpc>
              <a:spcAft>
                <a:spcPts val="0"/>
              </a:spcAft>
            </a:pPr>
            <a:r>
              <a:rPr sz="1300" b="1" i="0">
                <a:solidFill>
                  <a:srgbClr val="1B4332"/>
                </a:solidFill>
                <a:latin typeface="Calibri"/>
              </a:rPr>
              <a:t>SQLite3</a:t>
            </a:r>
          </a:p>
        </p:txBody>
      </p:sp>
      <p:sp>
        <p:nvSpPr>
          <p:cNvPr id="27" name="TextBox 26"/>
          <p:cNvSpPr txBox="1"/>
          <p:nvPr/>
        </p:nvSpPr>
        <p:spPr>
          <a:xfrm>
            <a:off x="6519672" y="3209544"/>
            <a:ext cx="4983480" cy="384048"/>
          </a:xfrm>
          <a:prstGeom prst="rect">
            <a:avLst/>
          </a:prstGeom>
          <a:noFill/>
        </p:spPr>
        <p:txBody>
          <a:bodyPr wrap="square" anchor="t" lIns="0" rIns="0" tIns="0" bIns="0">
            <a:spAutoFit/>
          </a:bodyPr>
          <a:lstStyle/>
          <a:p>
            <a:pPr algn="l">
              <a:lnSpc>
                <a:spcPct val="105000"/>
              </a:lnSpc>
              <a:spcAft>
                <a:spcPts val="0"/>
              </a:spcAft>
            </a:pPr>
            <a:r>
              <a:rPr sz="900" b="0" i="0">
                <a:solidFill>
                  <a:srgbClr val="5B6B73"/>
                </a:solidFill>
                <a:latin typeface="Calibri"/>
              </a:rPr>
              <a:t>Stores user accounts, admin flags, and the unknown-disease review queue.</a:t>
            </a:r>
          </a:p>
        </p:txBody>
      </p:sp>
      <p:sp>
        <p:nvSpPr>
          <p:cNvPr id="28" name="Rounded Rectangle 27"/>
          <p:cNvSpPr/>
          <p:nvPr/>
        </p:nvSpPr>
        <p:spPr>
          <a:xfrm>
            <a:off x="502920" y="3721608"/>
            <a:ext cx="5440680" cy="1078992"/>
          </a:xfrm>
          <a:prstGeom prst="roundRect">
            <a:avLst>
              <a:gd name="adj" fmla="val 8000"/>
            </a:avLst>
          </a:prstGeom>
          <a:solidFill>
            <a:srgbClr val="F4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02920" y="3721608"/>
            <a:ext cx="91440" cy="1078992"/>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3813048"/>
            <a:ext cx="4983480" cy="237744"/>
          </a:xfrm>
          <a:prstGeom prst="rect">
            <a:avLst/>
          </a:prstGeom>
          <a:noFill/>
        </p:spPr>
        <p:txBody>
          <a:bodyPr wrap="square" anchor="t" lIns="0" rIns="0" tIns="0" bIns="0">
            <a:spAutoFit/>
          </a:bodyPr>
          <a:lstStyle/>
          <a:p>
            <a:pPr algn="l">
              <a:lnSpc>
                <a:spcPct val="100000"/>
              </a:lnSpc>
              <a:spcAft>
                <a:spcPts val="0"/>
              </a:spcAft>
            </a:pPr>
            <a:r>
              <a:rPr sz="1100" b="1" i="0">
                <a:solidFill>
                  <a:srgbClr val="2E7D32"/>
                </a:solidFill>
                <a:latin typeface="Calibri"/>
              </a:rPr>
              <a:t>Frontend</a:t>
            </a:r>
          </a:p>
        </p:txBody>
      </p:sp>
      <p:sp>
        <p:nvSpPr>
          <p:cNvPr id="31" name="TextBox 30"/>
          <p:cNvSpPr txBox="1"/>
          <p:nvPr/>
        </p:nvSpPr>
        <p:spPr>
          <a:xfrm>
            <a:off x="777240" y="4069080"/>
            <a:ext cx="4983480" cy="274320"/>
          </a:xfrm>
          <a:prstGeom prst="rect">
            <a:avLst/>
          </a:prstGeom>
          <a:noFill/>
        </p:spPr>
        <p:txBody>
          <a:bodyPr wrap="square" anchor="t" lIns="0" rIns="0" tIns="0" bIns="0">
            <a:spAutoFit/>
          </a:bodyPr>
          <a:lstStyle/>
          <a:p>
            <a:pPr algn="l">
              <a:lnSpc>
                <a:spcPct val="100000"/>
              </a:lnSpc>
              <a:spcAft>
                <a:spcPts val="0"/>
              </a:spcAft>
            </a:pPr>
            <a:r>
              <a:rPr sz="1300" b="1" i="0">
                <a:solidFill>
                  <a:srgbClr val="1B4332"/>
                </a:solidFill>
                <a:latin typeface="Calibri"/>
              </a:rPr>
              <a:t>HTML5, CSS3, JavaScript, Jinja2</a:t>
            </a:r>
          </a:p>
        </p:txBody>
      </p:sp>
      <p:sp>
        <p:nvSpPr>
          <p:cNvPr id="32" name="TextBox 31"/>
          <p:cNvSpPr txBox="1"/>
          <p:nvPr/>
        </p:nvSpPr>
        <p:spPr>
          <a:xfrm>
            <a:off x="777240" y="4361688"/>
            <a:ext cx="4983480" cy="384048"/>
          </a:xfrm>
          <a:prstGeom prst="rect">
            <a:avLst/>
          </a:prstGeom>
          <a:noFill/>
        </p:spPr>
        <p:txBody>
          <a:bodyPr wrap="square" anchor="t" lIns="0" rIns="0" tIns="0" bIns="0">
            <a:spAutoFit/>
          </a:bodyPr>
          <a:lstStyle/>
          <a:p>
            <a:pPr algn="l">
              <a:lnSpc>
                <a:spcPct val="105000"/>
              </a:lnSpc>
              <a:spcAft>
                <a:spcPts val="0"/>
              </a:spcAft>
            </a:pPr>
            <a:r>
              <a:rPr sz="900" b="0" i="0">
                <a:solidFill>
                  <a:srgbClr val="5B6B73"/>
                </a:solidFill>
                <a:latin typeface="Calibri"/>
              </a:rPr>
              <a:t>Builds the dashboard, forms, and dynamic weather/risk widgets.</a:t>
            </a:r>
          </a:p>
        </p:txBody>
      </p:sp>
      <p:sp>
        <p:nvSpPr>
          <p:cNvPr id="33" name="Rounded Rectangle 32"/>
          <p:cNvSpPr/>
          <p:nvPr/>
        </p:nvSpPr>
        <p:spPr>
          <a:xfrm>
            <a:off x="6245352" y="3721608"/>
            <a:ext cx="5440680" cy="1078992"/>
          </a:xfrm>
          <a:prstGeom prst="roundRect">
            <a:avLst>
              <a:gd name="adj" fmla="val 8000"/>
            </a:avLst>
          </a:prstGeom>
          <a:solidFill>
            <a:srgbClr val="F4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245352" y="3721608"/>
            <a:ext cx="91440" cy="1078992"/>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19672" y="3813048"/>
            <a:ext cx="4983480" cy="237744"/>
          </a:xfrm>
          <a:prstGeom prst="rect">
            <a:avLst/>
          </a:prstGeom>
          <a:noFill/>
        </p:spPr>
        <p:txBody>
          <a:bodyPr wrap="square" anchor="t" lIns="0" rIns="0" tIns="0" bIns="0">
            <a:spAutoFit/>
          </a:bodyPr>
          <a:lstStyle/>
          <a:p>
            <a:pPr algn="l">
              <a:lnSpc>
                <a:spcPct val="100000"/>
              </a:lnSpc>
              <a:spcAft>
                <a:spcPts val="0"/>
              </a:spcAft>
            </a:pPr>
            <a:r>
              <a:rPr sz="1100" b="1" i="0">
                <a:solidFill>
                  <a:srgbClr val="2E7D32"/>
                </a:solidFill>
                <a:latin typeface="Calibri"/>
              </a:rPr>
              <a:t>Image Handling</a:t>
            </a:r>
          </a:p>
        </p:txBody>
      </p:sp>
      <p:sp>
        <p:nvSpPr>
          <p:cNvPr id="36" name="TextBox 35"/>
          <p:cNvSpPr txBox="1"/>
          <p:nvPr/>
        </p:nvSpPr>
        <p:spPr>
          <a:xfrm>
            <a:off x="6519672" y="4069080"/>
            <a:ext cx="4983480" cy="274320"/>
          </a:xfrm>
          <a:prstGeom prst="rect">
            <a:avLst/>
          </a:prstGeom>
          <a:noFill/>
        </p:spPr>
        <p:txBody>
          <a:bodyPr wrap="square" anchor="t" lIns="0" rIns="0" tIns="0" bIns="0">
            <a:spAutoFit/>
          </a:bodyPr>
          <a:lstStyle/>
          <a:p>
            <a:pPr algn="l">
              <a:lnSpc>
                <a:spcPct val="100000"/>
              </a:lnSpc>
              <a:spcAft>
                <a:spcPts val="0"/>
              </a:spcAft>
            </a:pPr>
            <a:r>
              <a:rPr sz="1300" b="1" i="0">
                <a:solidFill>
                  <a:srgbClr val="1B4332"/>
                </a:solidFill>
                <a:latin typeface="Calibri"/>
              </a:rPr>
              <a:t>Pillow (PIL)</a:t>
            </a:r>
          </a:p>
        </p:txBody>
      </p:sp>
      <p:sp>
        <p:nvSpPr>
          <p:cNvPr id="37" name="TextBox 36"/>
          <p:cNvSpPr txBox="1"/>
          <p:nvPr/>
        </p:nvSpPr>
        <p:spPr>
          <a:xfrm>
            <a:off x="6519672" y="4361688"/>
            <a:ext cx="4983480" cy="384048"/>
          </a:xfrm>
          <a:prstGeom prst="rect">
            <a:avLst/>
          </a:prstGeom>
          <a:noFill/>
        </p:spPr>
        <p:txBody>
          <a:bodyPr wrap="square" anchor="t" lIns="0" rIns="0" tIns="0" bIns="0">
            <a:spAutoFit/>
          </a:bodyPr>
          <a:lstStyle/>
          <a:p>
            <a:pPr algn="l">
              <a:lnSpc>
                <a:spcPct val="105000"/>
              </a:lnSpc>
              <a:spcAft>
                <a:spcPts val="0"/>
              </a:spcAft>
            </a:pPr>
            <a:r>
              <a:rPr sz="900" b="0" i="0">
                <a:solidFill>
                  <a:srgbClr val="5B6B73"/>
                </a:solidFill>
                <a:latin typeface="Calibri"/>
              </a:rPr>
              <a:t>Opens, resizes and converts uploaded leaf photos before they reach the CNN.</a:t>
            </a:r>
          </a:p>
        </p:txBody>
      </p:sp>
      <p:sp>
        <p:nvSpPr>
          <p:cNvPr id="38" name="Rounded Rectangle 37"/>
          <p:cNvSpPr/>
          <p:nvPr/>
        </p:nvSpPr>
        <p:spPr>
          <a:xfrm>
            <a:off x="502920" y="4873752"/>
            <a:ext cx="5440680" cy="1078992"/>
          </a:xfrm>
          <a:prstGeom prst="roundRect">
            <a:avLst>
              <a:gd name="adj" fmla="val 8000"/>
            </a:avLst>
          </a:prstGeom>
          <a:solidFill>
            <a:srgbClr val="F4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2920" y="4873752"/>
            <a:ext cx="91440" cy="1078992"/>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77240" y="4965192"/>
            <a:ext cx="4983480" cy="237744"/>
          </a:xfrm>
          <a:prstGeom prst="rect">
            <a:avLst/>
          </a:prstGeom>
          <a:noFill/>
        </p:spPr>
        <p:txBody>
          <a:bodyPr wrap="square" anchor="t" lIns="0" rIns="0" tIns="0" bIns="0">
            <a:spAutoFit/>
          </a:bodyPr>
          <a:lstStyle/>
          <a:p>
            <a:pPr algn="l">
              <a:lnSpc>
                <a:spcPct val="100000"/>
              </a:lnSpc>
              <a:spcAft>
                <a:spcPts val="0"/>
              </a:spcAft>
            </a:pPr>
            <a:r>
              <a:rPr sz="1100" b="1" i="0">
                <a:solidFill>
                  <a:srgbClr val="2E7D32"/>
                </a:solidFill>
                <a:latin typeface="Calibri"/>
              </a:rPr>
              <a:t>Auth &amp; Security</a:t>
            </a:r>
          </a:p>
        </p:txBody>
      </p:sp>
      <p:sp>
        <p:nvSpPr>
          <p:cNvPr id="41" name="TextBox 40"/>
          <p:cNvSpPr txBox="1"/>
          <p:nvPr/>
        </p:nvSpPr>
        <p:spPr>
          <a:xfrm>
            <a:off x="777240" y="5221224"/>
            <a:ext cx="4983480" cy="274320"/>
          </a:xfrm>
          <a:prstGeom prst="rect">
            <a:avLst/>
          </a:prstGeom>
          <a:noFill/>
        </p:spPr>
        <p:txBody>
          <a:bodyPr wrap="square" anchor="t" lIns="0" rIns="0" tIns="0" bIns="0">
            <a:spAutoFit/>
          </a:bodyPr>
          <a:lstStyle/>
          <a:p>
            <a:pPr algn="l">
              <a:lnSpc>
                <a:spcPct val="100000"/>
              </a:lnSpc>
              <a:spcAft>
                <a:spcPts val="0"/>
              </a:spcAft>
            </a:pPr>
            <a:r>
              <a:rPr sz="1300" b="1" i="0">
                <a:solidFill>
                  <a:srgbClr val="1B4332"/>
                </a:solidFill>
                <a:latin typeface="Calibri"/>
              </a:rPr>
              <a:t>SHA-256 hashing + sessions</a:t>
            </a:r>
          </a:p>
        </p:txBody>
      </p:sp>
      <p:sp>
        <p:nvSpPr>
          <p:cNvPr id="42" name="TextBox 41"/>
          <p:cNvSpPr txBox="1"/>
          <p:nvPr/>
        </p:nvSpPr>
        <p:spPr>
          <a:xfrm>
            <a:off x="777240" y="5513832"/>
            <a:ext cx="4983480" cy="384048"/>
          </a:xfrm>
          <a:prstGeom prst="rect">
            <a:avLst/>
          </a:prstGeom>
          <a:noFill/>
        </p:spPr>
        <p:txBody>
          <a:bodyPr wrap="square" anchor="t" lIns="0" rIns="0" tIns="0" bIns="0">
            <a:spAutoFit/>
          </a:bodyPr>
          <a:lstStyle/>
          <a:p>
            <a:pPr algn="l">
              <a:lnSpc>
                <a:spcPct val="105000"/>
              </a:lnSpc>
              <a:spcAft>
                <a:spcPts val="0"/>
              </a:spcAft>
            </a:pPr>
            <a:r>
              <a:rPr sz="900" b="0" i="0">
                <a:solidFill>
                  <a:srgbClr val="5B6B73"/>
                </a:solidFill>
                <a:latin typeface="Calibri"/>
              </a:rPr>
              <a:t>Passwords are never stored in plain text; sessions gate every protected page.</a:t>
            </a:r>
          </a:p>
        </p:txBody>
      </p:sp>
      <p:sp>
        <p:nvSpPr>
          <p:cNvPr id="43" name="Rounded Rectangle 42"/>
          <p:cNvSpPr/>
          <p:nvPr/>
        </p:nvSpPr>
        <p:spPr>
          <a:xfrm>
            <a:off x="6245352" y="4873752"/>
            <a:ext cx="5440680" cy="1078992"/>
          </a:xfrm>
          <a:prstGeom prst="roundRect">
            <a:avLst>
              <a:gd name="adj" fmla="val 8000"/>
            </a:avLst>
          </a:prstGeom>
          <a:solidFill>
            <a:srgbClr val="F4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245352" y="4873752"/>
            <a:ext cx="91440" cy="1078992"/>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519672" y="4965192"/>
            <a:ext cx="4983480" cy="237744"/>
          </a:xfrm>
          <a:prstGeom prst="rect">
            <a:avLst/>
          </a:prstGeom>
          <a:noFill/>
        </p:spPr>
        <p:txBody>
          <a:bodyPr wrap="square" anchor="t" lIns="0" rIns="0" tIns="0" bIns="0">
            <a:spAutoFit/>
          </a:bodyPr>
          <a:lstStyle/>
          <a:p>
            <a:pPr algn="l">
              <a:lnSpc>
                <a:spcPct val="100000"/>
              </a:lnSpc>
              <a:spcAft>
                <a:spcPts val="0"/>
              </a:spcAft>
            </a:pPr>
            <a:r>
              <a:rPr sz="1100" b="1" i="0">
                <a:solidFill>
                  <a:srgbClr val="2E7D32"/>
                </a:solidFill>
                <a:latin typeface="Calibri"/>
              </a:rPr>
              <a:t>Model Storage</a:t>
            </a:r>
          </a:p>
        </p:txBody>
      </p:sp>
      <p:sp>
        <p:nvSpPr>
          <p:cNvPr id="46" name="TextBox 45"/>
          <p:cNvSpPr txBox="1"/>
          <p:nvPr/>
        </p:nvSpPr>
        <p:spPr>
          <a:xfrm>
            <a:off x="6519672" y="5221224"/>
            <a:ext cx="4983480" cy="274320"/>
          </a:xfrm>
          <a:prstGeom prst="rect">
            <a:avLst/>
          </a:prstGeom>
          <a:noFill/>
        </p:spPr>
        <p:txBody>
          <a:bodyPr wrap="square" anchor="t" lIns="0" rIns="0" tIns="0" bIns="0">
            <a:spAutoFit/>
          </a:bodyPr>
          <a:lstStyle/>
          <a:p>
            <a:pPr algn="l">
              <a:lnSpc>
                <a:spcPct val="100000"/>
              </a:lnSpc>
              <a:spcAft>
                <a:spcPts val="0"/>
              </a:spcAft>
            </a:pPr>
            <a:r>
              <a:rPr sz="1300" b="1" i="0">
                <a:solidFill>
                  <a:srgbClr val="1B4332"/>
                </a:solidFill>
                <a:latin typeface="Calibri"/>
              </a:rPr>
              <a:t>Pickle (.pkl) + native .keras</a:t>
            </a:r>
          </a:p>
        </p:txBody>
      </p:sp>
      <p:sp>
        <p:nvSpPr>
          <p:cNvPr id="47" name="TextBox 46"/>
          <p:cNvSpPr txBox="1"/>
          <p:nvPr/>
        </p:nvSpPr>
        <p:spPr>
          <a:xfrm>
            <a:off x="6519672" y="5513832"/>
            <a:ext cx="4983480" cy="384048"/>
          </a:xfrm>
          <a:prstGeom prst="rect">
            <a:avLst/>
          </a:prstGeom>
          <a:noFill/>
        </p:spPr>
        <p:txBody>
          <a:bodyPr wrap="square" anchor="t" lIns="0" rIns="0" tIns="0" bIns="0">
            <a:spAutoFit/>
          </a:bodyPr>
          <a:lstStyle/>
          <a:p>
            <a:pPr algn="l">
              <a:lnSpc>
                <a:spcPct val="105000"/>
              </a:lnSpc>
              <a:spcAft>
                <a:spcPts val="0"/>
              </a:spcAft>
            </a:pPr>
            <a:r>
              <a:rPr sz="900" b="0" i="0">
                <a:solidFill>
                  <a:srgbClr val="5B6B73"/>
                </a:solidFill>
                <a:latin typeface="Calibri"/>
              </a:rPr>
              <a:t>Lets trained models be loaded instantly at server startup without retraining.</a:t>
            </a:r>
          </a:p>
        </p:txBody>
      </p:sp>
      <p:sp>
        <p:nvSpPr>
          <p:cNvPr id="48" name="TextBox 47"/>
          <p:cNvSpPr txBox="1"/>
          <p:nvPr/>
        </p:nvSpPr>
        <p:spPr>
          <a:xfrm>
            <a:off x="11475720" y="6528816"/>
            <a:ext cx="548640" cy="256032"/>
          </a:xfrm>
          <a:prstGeom prst="rect">
            <a:avLst/>
          </a:prstGeom>
          <a:noFill/>
        </p:spPr>
        <p:txBody>
          <a:bodyPr wrap="square" anchor="t" lIns="0" rIns="0" tIns="0" bIns="0">
            <a:spAutoFit/>
          </a:bodyPr>
          <a:lstStyle/>
          <a:p>
            <a:pPr algn="r">
              <a:lnSpc>
                <a:spcPct val="100000"/>
              </a:lnSpc>
              <a:spcAft>
                <a:spcPts val="0"/>
              </a:spcAft>
            </a:pPr>
            <a:r>
              <a:rPr sz="850" b="0" i="0">
                <a:solidFill>
                  <a:srgbClr val="5B6B73"/>
                </a:solidFill>
                <a:latin typeface="Calibri"/>
              </a:rPr>
              <a:t>08 /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7315200" cy="292608"/>
          </a:xfrm>
          <a:prstGeom prst="rect">
            <a:avLst/>
          </a:prstGeom>
          <a:noFill/>
        </p:spPr>
        <p:txBody>
          <a:bodyPr wrap="square" anchor="t" lIns="0" rIns="0" tIns="0" bIns="0">
            <a:spAutoFit/>
          </a:bodyPr>
          <a:lstStyle/>
          <a:p>
            <a:pPr algn="l">
              <a:lnSpc>
                <a:spcPct val="100000"/>
              </a:lnSpc>
              <a:spcAft>
                <a:spcPts val="0"/>
              </a:spcAft>
            </a:pPr>
            <a:r>
              <a:rPr sz="1200" b="1" i="0">
                <a:solidFill>
                  <a:srgbClr val="2E7D32"/>
                </a:solidFill>
                <a:latin typeface="Calibri"/>
              </a:rPr>
              <a:t>PROOF IT WORKS</a:t>
            </a:r>
          </a:p>
        </p:txBody>
      </p:sp>
      <p:sp>
        <p:nvSpPr>
          <p:cNvPr id="5" name="TextBox 4"/>
          <p:cNvSpPr txBox="1"/>
          <p:nvPr/>
        </p:nvSpPr>
        <p:spPr>
          <a:xfrm>
            <a:off x="502920" y="548640"/>
            <a:ext cx="10607040" cy="621792"/>
          </a:xfrm>
          <a:prstGeom prst="rect">
            <a:avLst/>
          </a:prstGeom>
          <a:noFill/>
        </p:spPr>
        <p:txBody>
          <a:bodyPr wrap="square" anchor="t" lIns="0" rIns="0" tIns="0" bIns="0">
            <a:spAutoFit/>
          </a:bodyPr>
          <a:lstStyle/>
          <a:p>
            <a:pPr algn="l">
              <a:lnSpc>
                <a:spcPct val="100000"/>
              </a:lnSpc>
              <a:spcAft>
                <a:spcPts val="0"/>
              </a:spcAft>
            </a:pPr>
            <a:r>
              <a:rPr sz="2600" b="1" i="0">
                <a:solidFill>
                  <a:srgbClr val="1B4332"/>
                </a:solidFill>
                <a:latin typeface="Calibri"/>
              </a:rPr>
              <a:t>Results &amp; Application Screens</a:t>
            </a:r>
          </a:p>
        </p:txBody>
      </p:sp>
      <p:sp>
        <p:nvSpPr>
          <p:cNvPr id="6" name="Rectangle 5"/>
          <p:cNvSpPr/>
          <p:nvPr/>
        </p:nvSpPr>
        <p:spPr>
          <a:xfrm>
            <a:off x="502920" y="1170432"/>
            <a:ext cx="1005840" cy="381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spcAft>
                <a:spcPts val="0"/>
              </a:spcAft>
            </a:pPr>
            <a:r>
              <a:rPr sz="850" b="0" i="0">
                <a:solidFill>
                  <a:srgbClr val="5B6B73"/>
                </a:solidFill>
                <a:latin typeface="Calibri"/>
              </a:rPr>
              <a:t>Crop Recommendation &amp; Disease Detection System</a:t>
            </a:r>
          </a:p>
        </p:txBody>
      </p:sp>
      <p:sp>
        <p:nvSpPr>
          <p:cNvPr id="8" name="TextBox 7"/>
          <p:cNvSpPr txBox="1"/>
          <p:nvPr/>
        </p:nvSpPr>
        <p:spPr>
          <a:xfrm>
            <a:off x="502920" y="1417320"/>
            <a:ext cx="11155680" cy="320040"/>
          </a:xfrm>
          <a:prstGeom prst="rect">
            <a:avLst/>
          </a:prstGeom>
          <a:noFill/>
        </p:spPr>
        <p:txBody>
          <a:bodyPr wrap="square" anchor="t" lIns="0" rIns="0" tIns="0" bIns="0">
            <a:spAutoFit/>
          </a:bodyPr>
          <a:lstStyle/>
          <a:p>
            <a:pPr algn="l">
              <a:lnSpc>
                <a:spcPct val="100000"/>
              </a:lnSpc>
              <a:spcAft>
                <a:spcPts val="0"/>
              </a:spcAft>
            </a:pPr>
            <a:r>
              <a:rPr sz="1400" b="1" i="0">
                <a:solidFill>
                  <a:srgbClr val="1B4332"/>
                </a:solidFill>
                <a:latin typeface="Calibri"/>
              </a:rPr>
              <a:t>Model Performance at a Glance</a:t>
            </a:r>
          </a:p>
        </p:txBody>
      </p:sp>
      <p:sp>
        <p:nvSpPr>
          <p:cNvPr id="9" name="Rounded Rectangle 8"/>
          <p:cNvSpPr/>
          <p:nvPr/>
        </p:nvSpPr>
        <p:spPr>
          <a:xfrm>
            <a:off x="502920" y="1783080"/>
            <a:ext cx="2670048" cy="1143000"/>
          </a:xfrm>
          <a:prstGeom prst="roundRect">
            <a:avLst>
              <a:gd name="adj" fmla="val 12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874520"/>
            <a:ext cx="2670048" cy="457200"/>
          </a:xfrm>
          <a:prstGeom prst="rect">
            <a:avLst/>
          </a:prstGeom>
          <a:noFill/>
        </p:spPr>
        <p:txBody>
          <a:bodyPr wrap="square" anchor="t" lIns="0" rIns="0" tIns="0" bIns="0">
            <a:spAutoFit/>
          </a:bodyPr>
          <a:lstStyle/>
          <a:p>
            <a:pPr algn="ctr">
              <a:lnSpc>
                <a:spcPct val="100000"/>
              </a:lnSpc>
              <a:spcAft>
                <a:spcPts val="0"/>
              </a:spcAft>
            </a:pPr>
            <a:r>
              <a:rPr sz="2400" b="1" i="0">
                <a:solidFill>
                  <a:srgbClr val="FFFFFF"/>
                </a:solidFill>
                <a:latin typeface="Calibri"/>
              </a:rPr>
              <a:t>99.45%</a:t>
            </a:r>
          </a:p>
        </p:txBody>
      </p:sp>
      <p:sp>
        <p:nvSpPr>
          <p:cNvPr id="11" name="TextBox 10"/>
          <p:cNvSpPr txBox="1"/>
          <p:nvPr/>
        </p:nvSpPr>
        <p:spPr>
          <a:xfrm>
            <a:off x="640080" y="2377440"/>
            <a:ext cx="2395728" cy="457200"/>
          </a:xfrm>
          <a:prstGeom prst="rect">
            <a:avLst/>
          </a:prstGeom>
          <a:noFill/>
        </p:spPr>
        <p:txBody>
          <a:bodyPr wrap="square" anchor="t" lIns="0" rIns="0" tIns="0" bIns="0">
            <a:spAutoFit/>
          </a:bodyPr>
          <a:lstStyle/>
          <a:p>
            <a:pPr algn="ctr">
              <a:lnSpc>
                <a:spcPct val="105000"/>
              </a:lnSpc>
              <a:spcAft>
                <a:spcPts val="0"/>
              </a:spcAft>
            </a:pPr>
            <a:r>
              <a:rPr sz="1000" b="0" i="0">
                <a:solidFill>
                  <a:srgbClr val="FFFFFF"/>
                </a:solidFill>
                <a:latin typeface="Calibri"/>
              </a:rPr>
              <a:t>Crop Model</a:t>
            </a:r>
          </a:p>
          <a:p>
            <a:pPr algn="ctr">
              <a:lnSpc>
                <a:spcPct val="105000"/>
              </a:lnSpc>
              <a:spcAft>
                <a:spcPts val="0"/>
              </a:spcAft>
            </a:pPr>
            <a:r>
              <a:rPr sz="1000" b="0" i="0">
                <a:solidFill>
                  <a:srgbClr val="FFFFFF"/>
                </a:solidFill>
                <a:latin typeface="Calibri"/>
              </a:rPr>
              <a:t>5-Fold CV Accuracy</a:t>
            </a:r>
          </a:p>
        </p:txBody>
      </p:sp>
      <p:sp>
        <p:nvSpPr>
          <p:cNvPr id="12" name="Rounded Rectangle 11"/>
          <p:cNvSpPr/>
          <p:nvPr/>
        </p:nvSpPr>
        <p:spPr>
          <a:xfrm>
            <a:off x="3337560" y="1783080"/>
            <a:ext cx="2670048" cy="1143000"/>
          </a:xfrm>
          <a:prstGeom prst="roundRect">
            <a:avLst>
              <a:gd name="adj" fmla="val 12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37560" y="1874520"/>
            <a:ext cx="2670048" cy="457200"/>
          </a:xfrm>
          <a:prstGeom prst="rect">
            <a:avLst/>
          </a:prstGeom>
          <a:noFill/>
        </p:spPr>
        <p:txBody>
          <a:bodyPr wrap="square" anchor="t" lIns="0" rIns="0" tIns="0" bIns="0">
            <a:spAutoFit/>
          </a:bodyPr>
          <a:lstStyle/>
          <a:p>
            <a:pPr algn="ctr">
              <a:lnSpc>
                <a:spcPct val="100000"/>
              </a:lnSpc>
              <a:spcAft>
                <a:spcPts val="0"/>
              </a:spcAft>
            </a:pPr>
            <a:r>
              <a:rPr sz="2400" b="1" i="0">
                <a:solidFill>
                  <a:srgbClr val="FFFFFF"/>
                </a:solidFill>
                <a:latin typeface="Calibri"/>
              </a:rPr>
              <a:t>22</a:t>
            </a:r>
          </a:p>
        </p:txBody>
      </p:sp>
      <p:sp>
        <p:nvSpPr>
          <p:cNvPr id="14" name="TextBox 13"/>
          <p:cNvSpPr txBox="1"/>
          <p:nvPr/>
        </p:nvSpPr>
        <p:spPr>
          <a:xfrm>
            <a:off x="3474720" y="2377440"/>
            <a:ext cx="2395728" cy="457200"/>
          </a:xfrm>
          <a:prstGeom prst="rect">
            <a:avLst/>
          </a:prstGeom>
          <a:noFill/>
        </p:spPr>
        <p:txBody>
          <a:bodyPr wrap="square" anchor="t" lIns="0" rIns="0" tIns="0" bIns="0">
            <a:spAutoFit/>
          </a:bodyPr>
          <a:lstStyle/>
          <a:p>
            <a:pPr algn="ctr">
              <a:lnSpc>
                <a:spcPct val="105000"/>
              </a:lnSpc>
              <a:spcAft>
                <a:spcPts val="0"/>
              </a:spcAft>
            </a:pPr>
            <a:r>
              <a:rPr sz="1000" b="0" i="0">
                <a:solidFill>
                  <a:srgbClr val="FFFFFF"/>
                </a:solidFill>
                <a:latin typeface="Calibri"/>
              </a:rPr>
              <a:t>Crop Classes</a:t>
            </a:r>
          </a:p>
          <a:p>
            <a:pPr algn="ctr">
              <a:lnSpc>
                <a:spcPct val="105000"/>
              </a:lnSpc>
              <a:spcAft>
                <a:spcPts val="0"/>
              </a:spcAft>
            </a:pPr>
            <a:r>
              <a:rPr sz="1000" b="0" i="0">
                <a:solidFill>
                  <a:srgbClr val="FFFFFF"/>
                </a:solidFill>
                <a:latin typeface="Calibri"/>
              </a:rPr>
              <a:t>Supported</a:t>
            </a:r>
          </a:p>
        </p:txBody>
      </p:sp>
      <p:sp>
        <p:nvSpPr>
          <p:cNvPr id="15" name="Rounded Rectangle 14"/>
          <p:cNvSpPr/>
          <p:nvPr/>
        </p:nvSpPr>
        <p:spPr>
          <a:xfrm>
            <a:off x="6172200" y="1783080"/>
            <a:ext cx="2670048" cy="1143000"/>
          </a:xfrm>
          <a:prstGeom prst="roundRect">
            <a:avLst>
              <a:gd name="adj" fmla="val 12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72200" y="1874520"/>
            <a:ext cx="2670048" cy="457200"/>
          </a:xfrm>
          <a:prstGeom prst="rect">
            <a:avLst/>
          </a:prstGeom>
          <a:noFill/>
        </p:spPr>
        <p:txBody>
          <a:bodyPr wrap="square" anchor="t" lIns="0" rIns="0" tIns="0" bIns="0">
            <a:spAutoFit/>
          </a:bodyPr>
          <a:lstStyle/>
          <a:p>
            <a:pPr algn="ctr">
              <a:lnSpc>
                <a:spcPct val="100000"/>
              </a:lnSpc>
              <a:spcAft>
                <a:spcPts val="0"/>
              </a:spcAft>
            </a:pPr>
            <a:r>
              <a:rPr sz="2400" b="1" i="0">
                <a:solidFill>
                  <a:srgbClr val="FFFFFF"/>
                </a:solidFill>
                <a:latin typeface="Calibri"/>
              </a:rPr>
              <a:t>31</a:t>
            </a:r>
          </a:p>
        </p:txBody>
      </p:sp>
      <p:sp>
        <p:nvSpPr>
          <p:cNvPr id="17" name="TextBox 16"/>
          <p:cNvSpPr txBox="1"/>
          <p:nvPr/>
        </p:nvSpPr>
        <p:spPr>
          <a:xfrm>
            <a:off x="6309360" y="2377440"/>
            <a:ext cx="2395728" cy="457200"/>
          </a:xfrm>
          <a:prstGeom prst="rect">
            <a:avLst/>
          </a:prstGeom>
          <a:noFill/>
        </p:spPr>
        <p:txBody>
          <a:bodyPr wrap="square" anchor="t" lIns="0" rIns="0" tIns="0" bIns="0">
            <a:spAutoFit/>
          </a:bodyPr>
          <a:lstStyle/>
          <a:p>
            <a:pPr algn="ctr">
              <a:lnSpc>
                <a:spcPct val="105000"/>
              </a:lnSpc>
              <a:spcAft>
                <a:spcPts val="0"/>
              </a:spcAft>
            </a:pPr>
            <a:r>
              <a:rPr sz="1000" b="0" i="0">
                <a:solidFill>
                  <a:srgbClr val="FFFFFF"/>
                </a:solidFill>
                <a:latin typeface="Calibri"/>
              </a:rPr>
              <a:t>Disease Classes</a:t>
            </a:r>
          </a:p>
          <a:p>
            <a:pPr algn="ctr">
              <a:lnSpc>
                <a:spcPct val="105000"/>
              </a:lnSpc>
              <a:spcAft>
                <a:spcPts val="0"/>
              </a:spcAft>
            </a:pPr>
            <a:r>
              <a:rPr sz="1000" b="0" i="0">
                <a:solidFill>
                  <a:srgbClr val="FFFFFF"/>
                </a:solidFill>
                <a:latin typeface="Calibri"/>
              </a:rPr>
              <a:t>Across 6 Crops</a:t>
            </a:r>
          </a:p>
        </p:txBody>
      </p:sp>
      <p:sp>
        <p:nvSpPr>
          <p:cNvPr id="18" name="Rounded Rectangle 17"/>
          <p:cNvSpPr/>
          <p:nvPr/>
        </p:nvSpPr>
        <p:spPr>
          <a:xfrm>
            <a:off x="9006840" y="1783080"/>
            <a:ext cx="2670048" cy="1143000"/>
          </a:xfrm>
          <a:prstGeom prst="roundRect">
            <a:avLst>
              <a:gd name="adj" fmla="val 12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06840" y="1874520"/>
            <a:ext cx="2670048" cy="457200"/>
          </a:xfrm>
          <a:prstGeom prst="rect">
            <a:avLst/>
          </a:prstGeom>
          <a:noFill/>
        </p:spPr>
        <p:txBody>
          <a:bodyPr wrap="square" anchor="t" lIns="0" rIns="0" tIns="0" bIns="0">
            <a:spAutoFit/>
          </a:bodyPr>
          <a:lstStyle/>
          <a:p>
            <a:pPr algn="ctr">
              <a:lnSpc>
                <a:spcPct val="100000"/>
              </a:lnSpc>
              <a:spcAft>
                <a:spcPts val="0"/>
              </a:spcAft>
            </a:pPr>
            <a:r>
              <a:rPr sz="2400" b="1" i="0">
                <a:solidFill>
                  <a:srgbClr val="FFFFFF"/>
                </a:solidFill>
                <a:latin typeface="Calibri"/>
              </a:rPr>
              <a:t>60%</a:t>
            </a:r>
          </a:p>
        </p:txBody>
      </p:sp>
      <p:sp>
        <p:nvSpPr>
          <p:cNvPr id="20" name="TextBox 19"/>
          <p:cNvSpPr txBox="1"/>
          <p:nvPr/>
        </p:nvSpPr>
        <p:spPr>
          <a:xfrm>
            <a:off x="9144000" y="2377440"/>
            <a:ext cx="2395728" cy="457200"/>
          </a:xfrm>
          <a:prstGeom prst="rect">
            <a:avLst/>
          </a:prstGeom>
          <a:noFill/>
        </p:spPr>
        <p:txBody>
          <a:bodyPr wrap="square" anchor="t" lIns="0" rIns="0" tIns="0" bIns="0">
            <a:spAutoFit/>
          </a:bodyPr>
          <a:lstStyle/>
          <a:p>
            <a:pPr algn="ctr">
              <a:lnSpc>
                <a:spcPct val="105000"/>
              </a:lnSpc>
              <a:spcAft>
                <a:spcPts val="0"/>
              </a:spcAft>
            </a:pPr>
            <a:r>
              <a:rPr sz="1000" b="0" i="0">
                <a:solidFill>
                  <a:srgbClr val="FFFFFF"/>
                </a:solidFill>
                <a:latin typeface="Calibri"/>
              </a:rPr>
              <a:t>Confidence Threshold</a:t>
            </a:r>
          </a:p>
          <a:p>
            <a:pPr algn="ctr">
              <a:lnSpc>
                <a:spcPct val="105000"/>
              </a:lnSpc>
              <a:spcAft>
                <a:spcPts val="0"/>
              </a:spcAft>
            </a:pPr>
            <a:r>
              <a:rPr sz="1000" b="0" i="0">
                <a:solidFill>
                  <a:srgbClr val="FFFFFF"/>
                </a:solidFill>
                <a:latin typeface="Calibri"/>
              </a:rPr>
              <a:t>for Unknown Flagging</a:t>
            </a:r>
          </a:p>
        </p:txBody>
      </p:sp>
      <p:sp>
        <p:nvSpPr>
          <p:cNvPr id="21" name="TextBox 20"/>
          <p:cNvSpPr txBox="1"/>
          <p:nvPr/>
        </p:nvSpPr>
        <p:spPr>
          <a:xfrm>
            <a:off x="502920" y="3154680"/>
            <a:ext cx="11155680" cy="320040"/>
          </a:xfrm>
          <a:prstGeom prst="rect">
            <a:avLst/>
          </a:prstGeom>
          <a:noFill/>
        </p:spPr>
        <p:txBody>
          <a:bodyPr wrap="square" anchor="t" lIns="0" rIns="0" tIns="0" bIns="0">
            <a:spAutoFit/>
          </a:bodyPr>
          <a:lstStyle/>
          <a:p>
            <a:pPr algn="l">
              <a:lnSpc>
                <a:spcPct val="100000"/>
              </a:lnSpc>
              <a:spcAft>
                <a:spcPts val="0"/>
              </a:spcAft>
            </a:pPr>
            <a:r>
              <a:rPr sz="1400" b="1" i="0">
                <a:solidFill>
                  <a:srgbClr val="1B4332"/>
                </a:solidFill>
                <a:latin typeface="Calibri"/>
              </a:rPr>
              <a:t>Application Screens  (insert your actual screenshots here)</a:t>
            </a:r>
          </a:p>
        </p:txBody>
      </p:sp>
      <p:sp>
        <p:nvSpPr>
          <p:cNvPr id="22" name="Rounded Rectangle 21"/>
          <p:cNvSpPr/>
          <p:nvPr/>
        </p:nvSpPr>
        <p:spPr>
          <a:xfrm>
            <a:off x="502920" y="3566160"/>
            <a:ext cx="2670048" cy="2651760"/>
          </a:xfrm>
          <a:prstGeom prst="roundRect">
            <a:avLst>
              <a:gd name="adj" fmla="val 4000"/>
            </a:avLst>
          </a:prstGeom>
          <a:solidFill>
            <a:srgbClr val="FFFFFF"/>
          </a:solidFill>
          <a:ln w="19050">
            <a:solidFill>
              <a:srgbClr val="DCE6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600200" y="4069080"/>
            <a:ext cx="475488" cy="475488"/>
          </a:xfrm>
          <a:prstGeom prst="ellipse">
            <a:avLst/>
          </a:prstGeom>
          <a:solidFill>
            <a:srgbClr val="EA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00" b="1">
                <a:solidFill>
                  <a:srgbClr val="2E7D32"/>
                </a:solidFill>
              </a:rPr>
              <a:t>⧉</a:t>
            </a:r>
          </a:p>
        </p:txBody>
      </p:sp>
      <p:sp>
        <p:nvSpPr>
          <p:cNvPr id="24" name="TextBox 23"/>
          <p:cNvSpPr txBox="1"/>
          <p:nvPr/>
        </p:nvSpPr>
        <p:spPr>
          <a:xfrm>
            <a:off x="640080" y="4709160"/>
            <a:ext cx="2395728" cy="274320"/>
          </a:xfrm>
          <a:prstGeom prst="rect">
            <a:avLst/>
          </a:prstGeom>
          <a:noFill/>
        </p:spPr>
        <p:txBody>
          <a:bodyPr wrap="square" anchor="t" lIns="0" rIns="0" tIns="0" bIns="0">
            <a:spAutoFit/>
          </a:bodyPr>
          <a:lstStyle/>
          <a:p>
            <a:pPr algn="ctr">
              <a:lnSpc>
                <a:spcPct val="100000"/>
              </a:lnSpc>
              <a:spcAft>
                <a:spcPts val="0"/>
              </a:spcAft>
            </a:pPr>
            <a:r>
              <a:rPr sz="1200" b="1" i="0">
                <a:solidFill>
                  <a:srgbClr val="2C3E50"/>
                </a:solidFill>
                <a:latin typeface="Calibri"/>
              </a:rPr>
              <a:t>Dashboard</a:t>
            </a:r>
          </a:p>
        </p:txBody>
      </p:sp>
      <p:sp>
        <p:nvSpPr>
          <p:cNvPr id="25" name="TextBox 24"/>
          <p:cNvSpPr txBox="1"/>
          <p:nvPr/>
        </p:nvSpPr>
        <p:spPr>
          <a:xfrm>
            <a:off x="640080" y="5010912"/>
            <a:ext cx="2395728" cy="457200"/>
          </a:xfrm>
          <a:prstGeom prst="rect">
            <a:avLst/>
          </a:prstGeom>
          <a:noFill/>
        </p:spPr>
        <p:txBody>
          <a:bodyPr wrap="square" anchor="t" lIns="0" rIns="0" tIns="0" bIns="0">
            <a:spAutoFit/>
          </a:bodyPr>
          <a:lstStyle/>
          <a:p>
            <a:pPr algn="ctr">
              <a:lnSpc>
                <a:spcPct val="110000"/>
              </a:lnSpc>
              <a:spcAft>
                <a:spcPts val="0"/>
              </a:spcAft>
            </a:pPr>
            <a:r>
              <a:rPr sz="900" b="0" i="0">
                <a:solidFill>
                  <a:srgbClr val="5B6B73"/>
                </a:solidFill>
                <a:latin typeface="Calibri"/>
              </a:rPr>
              <a:t>Crop form + weather risk banner</a:t>
            </a:r>
          </a:p>
        </p:txBody>
      </p:sp>
      <p:sp>
        <p:nvSpPr>
          <p:cNvPr id="26" name="TextBox 25"/>
          <p:cNvSpPr txBox="1"/>
          <p:nvPr/>
        </p:nvSpPr>
        <p:spPr>
          <a:xfrm>
            <a:off x="640080" y="5623560"/>
            <a:ext cx="2395728" cy="274320"/>
          </a:xfrm>
          <a:prstGeom prst="rect">
            <a:avLst/>
          </a:prstGeom>
          <a:noFill/>
        </p:spPr>
        <p:txBody>
          <a:bodyPr wrap="square" anchor="t" lIns="0" rIns="0" tIns="0" bIns="0">
            <a:spAutoFit/>
          </a:bodyPr>
          <a:lstStyle/>
          <a:p>
            <a:pPr algn="ctr">
              <a:lnSpc>
                <a:spcPct val="100000"/>
              </a:lnSpc>
              <a:spcAft>
                <a:spcPts val="0"/>
              </a:spcAft>
            </a:pPr>
            <a:r>
              <a:rPr sz="900" b="0" i="1">
                <a:solidFill>
                  <a:srgbClr val="5B6B73"/>
                </a:solidFill>
                <a:latin typeface="Calibri"/>
              </a:rPr>
              <a:t>[Insert Screenshot]</a:t>
            </a:r>
          </a:p>
        </p:txBody>
      </p:sp>
      <p:sp>
        <p:nvSpPr>
          <p:cNvPr id="27" name="Rounded Rectangle 26"/>
          <p:cNvSpPr/>
          <p:nvPr/>
        </p:nvSpPr>
        <p:spPr>
          <a:xfrm>
            <a:off x="3337560" y="3566160"/>
            <a:ext cx="2670048" cy="2651760"/>
          </a:xfrm>
          <a:prstGeom prst="roundRect">
            <a:avLst>
              <a:gd name="adj" fmla="val 4000"/>
            </a:avLst>
          </a:prstGeom>
          <a:solidFill>
            <a:srgbClr val="FFFFFF"/>
          </a:solidFill>
          <a:ln w="19050">
            <a:solidFill>
              <a:srgbClr val="DCE6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434840" y="4069080"/>
            <a:ext cx="475488" cy="475488"/>
          </a:xfrm>
          <a:prstGeom prst="ellipse">
            <a:avLst/>
          </a:prstGeom>
          <a:solidFill>
            <a:srgbClr val="EA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00" b="1">
                <a:solidFill>
                  <a:srgbClr val="2E7D32"/>
                </a:solidFill>
              </a:rPr>
              <a:t>⧉</a:t>
            </a:r>
          </a:p>
        </p:txBody>
      </p:sp>
      <p:sp>
        <p:nvSpPr>
          <p:cNvPr id="29" name="TextBox 28"/>
          <p:cNvSpPr txBox="1"/>
          <p:nvPr/>
        </p:nvSpPr>
        <p:spPr>
          <a:xfrm>
            <a:off x="3474720" y="4709160"/>
            <a:ext cx="2395728" cy="274320"/>
          </a:xfrm>
          <a:prstGeom prst="rect">
            <a:avLst/>
          </a:prstGeom>
          <a:noFill/>
        </p:spPr>
        <p:txBody>
          <a:bodyPr wrap="square" anchor="t" lIns="0" rIns="0" tIns="0" bIns="0">
            <a:spAutoFit/>
          </a:bodyPr>
          <a:lstStyle/>
          <a:p>
            <a:pPr algn="ctr">
              <a:lnSpc>
                <a:spcPct val="100000"/>
              </a:lnSpc>
              <a:spcAft>
                <a:spcPts val="0"/>
              </a:spcAft>
            </a:pPr>
            <a:r>
              <a:rPr sz="1200" b="1" i="0">
                <a:solidFill>
                  <a:srgbClr val="2C3E50"/>
                </a:solidFill>
                <a:latin typeface="Calibri"/>
              </a:rPr>
              <a:t>Disease Result</a:t>
            </a:r>
          </a:p>
        </p:txBody>
      </p:sp>
      <p:sp>
        <p:nvSpPr>
          <p:cNvPr id="30" name="TextBox 29"/>
          <p:cNvSpPr txBox="1"/>
          <p:nvPr/>
        </p:nvSpPr>
        <p:spPr>
          <a:xfrm>
            <a:off x="3474720" y="5010912"/>
            <a:ext cx="2395728" cy="457200"/>
          </a:xfrm>
          <a:prstGeom prst="rect">
            <a:avLst/>
          </a:prstGeom>
          <a:noFill/>
        </p:spPr>
        <p:txBody>
          <a:bodyPr wrap="square" anchor="t" lIns="0" rIns="0" tIns="0" bIns="0">
            <a:spAutoFit/>
          </a:bodyPr>
          <a:lstStyle/>
          <a:p>
            <a:pPr algn="ctr">
              <a:lnSpc>
                <a:spcPct val="110000"/>
              </a:lnSpc>
              <a:spcAft>
                <a:spcPts val="0"/>
              </a:spcAft>
            </a:pPr>
            <a:r>
              <a:rPr sz="900" b="0" i="0">
                <a:solidFill>
                  <a:srgbClr val="5B6B73"/>
                </a:solidFill>
                <a:latin typeface="Calibri"/>
              </a:rPr>
              <a:t>Confident diagnosis + remedy</a:t>
            </a:r>
          </a:p>
        </p:txBody>
      </p:sp>
      <p:sp>
        <p:nvSpPr>
          <p:cNvPr id="31" name="TextBox 30"/>
          <p:cNvSpPr txBox="1"/>
          <p:nvPr/>
        </p:nvSpPr>
        <p:spPr>
          <a:xfrm>
            <a:off x="3474720" y="5623560"/>
            <a:ext cx="2395728" cy="274320"/>
          </a:xfrm>
          <a:prstGeom prst="rect">
            <a:avLst/>
          </a:prstGeom>
          <a:noFill/>
        </p:spPr>
        <p:txBody>
          <a:bodyPr wrap="square" anchor="t" lIns="0" rIns="0" tIns="0" bIns="0">
            <a:spAutoFit/>
          </a:bodyPr>
          <a:lstStyle/>
          <a:p>
            <a:pPr algn="ctr">
              <a:lnSpc>
                <a:spcPct val="100000"/>
              </a:lnSpc>
              <a:spcAft>
                <a:spcPts val="0"/>
              </a:spcAft>
            </a:pPr>
            <a:r>
              <a:rPr sz="900" b="0" i="1">
                <a:solidFill>
                  <a:srgbClr val="5B6B73"/>
                </a:solidFill>
                <a:latin typeface="Calibri"/>
              </a:rPr>
              <a:t>[Insert Screenshot]</a:t>
            </a:r>
          </a:p>
        </p:txBody>
      </p:sp>
      <p:sp>
        <p:nvSpPr>
          <p:cNvPr id="32" name="Rounded Rectangle 31"/>
          <p:cNvSpPr/>
          <p:nvPr/>
        </p:nvSpPr>
        <p:spPr>
          <a:xfrm>
            <a:off x="6172200" y="3566160"/>
            <a:ext cx="2670048" cy="2651760"/>
          </a:xfrm>
          <a:prstGeom prst="roundRect">
            <a:avLst>
              <a:gd name="adj" fmla="val 4000"/>
            </a:avLst>
          </a:prstGeom>
          <a:solidFill>
            <a:srgbClr val="FFFFFF"/>
          </a:solidFill>
          <a:ln w="19050">
            <a:solidFill>
              <a:srgbClr val="DCE6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269480" y="4069080"/>
            <a:ext cx="475488" cy="475488"/>
          </a:xfrm>
          <a:prstGeom prst="ellipse">
            <a:avLst/>
          </a:prstGeom>
          <a:solidFill>
            <a:srgbClr val="EA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00" b="1">
                <a:solidFill>
                  <a:srgbClr val="2E7D32"/>
                </a:solidFill>
              </a:rPr>
              <a:t>⧉</a:t>
            </a:r>
          </a:p>
        </p:txBody>
      </p:sp>
      <p:sp>
        <p:nvSpPr>
          <p:cNvPr id="34" name="TextBox 33"/>
          <p:cNvSpPr txBox="1"/>
          <p:nvPr/>
        </p:nvSpPr>
        <p:spPr>
          <a:xfrm>
            <a:off x="6309360" y="4709160"/>
            <a:ext cx="2395728" cy="274320"/>
          </a:xfrm>
          <a:prstGeom prst="rect">
            <a:avLst/>
          </a:prstGeom>
          <a:noFill/>
        </p:spPr>
        <p:txBody>
          <a:bodyPr wrap="square" anchor="t" lIns="0" rIns="0" tIns="0" bIns="0">
            <a:spAutoFit/>
          </a:bodyPr>
          <a:lstStyle/>
          <a:p>
            <a:pPr algn="ctr">
              <a:lnSpc>
                <a:spcPct val="100000"/>
              </a:lnSpc>
              <a:spcAft>
                <a:spcPts val="0"/>
              </a:spcAft>
            </a:pPr>
            <a:r>
              <a:rPr sz="1200" b="1" i="0">
                <a:solidFill>
                  <a:srgbClr val="2C3E50"/>
                </a:solidFill>
                <a:latin typeface="Calibri"/>
              </a:rPr>
              <a:t>Unknown Flagged</a:t>
            </a:r>
          </a:p>
        </p:txBody>
      </p:sp>
      <p:sp>
        <p:nvSpPr>
          <p:cNvPr id="35" name="TextBox 34"/>
          <p:cNvSpPr txBox="1"/>
          <p:nvPr/>
        </p:nvSpPr>
        <p:spPr>
          <a:xfrm>
            <a:off x="6309360" y="5010912"/>
            <a:ext cx="2395728" cy="457200"/>
          </a:xfrm>
          <a:prstGeom prst="rect">
            <a:avLst/>
          </a:prstGeom>
          <a:noFill/>
        </p:spPr>
        <p:txBody>
          <a:bodyPr wrap="square" anchor="t" lIns="0" rIns="0" tIns="0" bIns="0">
            <a:spAutoFit/>
          </a:bodyPr>
          <a:lstStyle/>
          <a:p>
            <a:pPr algn="ctr">
              <a:lnSpc>
                <a:spcPct val="110000"/>
              </a:lnSpc>
              <a:spcAft>
                <a:spcPts val="0"/>
              </a:spcAft>
            </a:pPr>
            <a:r>
              <a:rPr sz="900" b="0" i="0">
                <a:solidFill>
                  <a:srgbClr val="5B6B73"/>
                </a:solidFill>
                <a:latin typeface="Calibri"/>
              </a:rPr>
              <a:t>Low-confidence fallback screen</a:t>
            </a:r>
          </a:p>
        </p:txBody>
      </p:sp>
      <p:sp>
        <p:nvSpPr>
          <p:cNvPr id="36" name="TextBox 35"/>
          <p:cNvSpPr txBox="1"/>
          <p:nvPr/>
        </p:nvSpPr>
        <p:spPr>
          <a:xfrm>
            <a:off x="6309360" y="5623560"/>
            <a:ext cx="2395728" cy="274320"/>
          </a:xfrm>
          <a:prstGeom prst="rect">
            <a:avLst/>
          </a:prstGeom>
          <a:noFill/>
        </p:spPr>
        <p:txBody>
          <a:bodyPr wrap="square" anchor="t" lIns="0" rIns="0" tIns="0" bIns="0">
            <a:spAutoFit/>
          </a:bodyPr>
          <a:lstStyle/>
          <a:p>
            <a:pPr algn="ctr">
              <a:lnSpc>
                <a:spcPct val="100000"/>
              </a:lnSpc>
              <a:spcAft>
                <a:spcPts val="0"/>
              </a:spcAft>
            </a:pPr>
            <a:r>
              <a:rPr sz="900" b="0" i="1">
                <a:solidFill>
                  <a:srgbClr val="5B6B73"/>
                </a:solidFill>
                <a:latin typeface="Calibri"/>
              </a:rPr>
              <a:t>[Insert Screenshot]</a:t>
            </a:r>
          </a:p>
        </p:txBody>
      </p:sp>
      <p:sp>
        <p:nvSpPr>
          <p:cNvPr id="37" name="Rounded Rectangle 36"/>
          <p:cNvSpPr/>
          <p:nvPr/>
        </p:nvSpPr>
        <p:spPr>
          <a:xfrm>
            <a:off x="9006840" y="3566160"/>
            <a:ext cx="2670048" cy="2651760"/>
          </a:xfrm>
          <a:prstGeom prst="roundRect">
            <a:avLst>
              <a:gd name="adj" fmla="val 4000"/>
            </a:avLst>
          </a:prstGeom>
          <a:solidFill>
            <a:srgbClr val="FFFFFF"/>
          </a:solidFill>
          <a:ln w="19050">
            <a:solidFill>
              <a:srgbClr val="DCE6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104120" y="4069080"/>
            <a:ext cx="475488" cy="475488"/>
          </a:xfrm>
          <a:prstGeom prst="ellipse">
            <a:avLst/>
          </a:prstGeom>
          <a:solidFill>
            <a:srgbClr val="EA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00" b="1">
                <a:solidFill>
                  <a:srgbClr val="2E7D32"/>
                </a:solidFill>
              </a:rPr>
              <a:t>⧉</a:t>
            </a:r>
          </a:p>
        </p:txBody>
      </p:sp>
      <p:sp>
        <p:nvSpPr>
          <p:cNvPr id="39" name="TextBox 38"/>
          <p:cNvSpPr txBox="1"/>
          <p:nvPr/>
        </p:nvSpPr>
        <p:spPr>
          <a:xfrm>
            <a:off x="9144000" y="4709160"/>
            <a:ext cx="2395728" cy="274320"/>
          </a:xfrm>
          <a:prstGeom prst="rect">
            <a:avLst/>
          </a:prstGeom>
          <a:noFill/>
        </p:spPr>
        <p:txBody>
          <a:bodyPr wrap="square" anchor="t" lIns="0" rIns="0" tIns="0" bIns="0">
            <a:spAutoFit/>
          </a:bodyPr>
          <a:lstStyle/>
          <a:p>
            <a:pPr algn="ctr">
              <a:lnSpc>
                <a:spcPct val="100000"/>
              </a:lnSpc>
              <a:spcAft>
                <a:spcPts val="0"/>
              </a:spcAft>
            </a:pPr>
            <a:r>
              <a:rPr sz="1200" b="1" i="0">
                <a:solidFill>
                  <a:srgbClr val="2C3E50"/>
                </a:solidFill>
                <a:latin typeface="Calibri"/>
              </a:rPr>
              <a:t>Admin Review</a:t>
            </a:r>
          </a:p>
        </p:txBody>
      </p:sp>
      <p:sp>
        <p:nvSpPr>
          <p:cNvPr id="40" name="TextBox 39"/>
          <p:cNvSpPr txBox="1"/>
          <p:nvPr/>
        </p:nvSpPr>
        <p:spPr>
          <a:xfrm>
            <a:off x="9144000" y="5010912"/>
            <a:ext cx="2395728" cy="457200"/>
          </a:xfrm>
          <a:prstGeom prst="rect">
            <a:avLst/>
          </a:prstGeom>
          <a:noFill/>
        </p:spPr>
        <p:txBody>
          <a:bodyPr wrap="square" anchor="t" lIns="0" rIns="0" tIns="0" bIns="0">
            <a:spAutoFit/>
          </a:bodyPr>
          <a:lstStyle/>
          <a:p>
            <a:pPr algn="ctr">
              <a:lnSpc>
                <a:spcPct val="110000"/>
              </a:lnSpc>
              <a:spcAft>
                <a:spcPts val="0"/>
              </a:spcAft>
            </a:pPr>
            <a:r>
              <a:rPr sz="900" b="0" i="0">
                <a:solidFill>
                  <a:srgbClr val="5B6B73"/>
                </a:solidFill>
                <a:latin typeface="Calibri"/>
              </a:rPr>
              <a:t>Flagged-case review dashboard</a:t>
            </a:r>
          </a:p>
        </p:txBody>
      </p:sp>
      <p:sp>
        <p:nvSpPr>
          <p:cNvPr id="41" name="TextBox 40"/>
          <p:cNvSpPr txBox="1"/>
          <p:nvPr/>
        </p:nvSpPr>
        <p:spPr>
          <a:xfrm>
            <a:off x="9144000" y="5623560"/>
            <a:ext cx="2395728" cy="274320"/>
          </a:xfrm>
          <a:prstGeom prst="rect">
            <a:avLst/>
          </a:prstGeom>
          <a:noFill/>
        </p:spPr>
        <p:txBody>
          <a:bodyPr wrap="square" anchor="t" lIns="0" rIns="0" tIns="0" bIns="0">
            <a:spAutoFit/>
          </a:bodyPr>
          <a:lstStyle/>
          <a:p>
            <a:pPr algn="ctr">
              <a:lnSpc>
                <a:spcPct val="100000"/>
              </a:lnSpc>
              <a:spcAft>
                <a:spcPts val="0"/>
              </a:spcAft>
            </a:pPr>
            <a:r>
              <a:rPr sz="900" b="0" i="1">
                <a:solidFill>
                  <a:srgbClr val="5B6B73"/>
                </a:solidFill>
                <a:latin typeface="Calibri"/>
              </a:rPr>
              <a:t>[Insert Screenshot]</a:t>
            </a:r>
          </a:p>
        </p:txBody>
      </p:sp>
      <p:sp>
        <p:nvSpPr>
          <p:cNvPr id="42" name="TextBox 41"/>
          <p:cNvSpPr txBox="1"/>
          <p:nvPr/>
        </p:nvSpPr>
        <p:spPr>
          <a:xfrm>
            <a:off x="11475720" y="6528816"/>
            <a:ext cx="548640" cy="256032"/>
          </a:xfrm>
          <a:prstGeom prst="rect">
            <a:avLst/>
          </a:prstGeom>
          <a:noFill/>
        </p:spPr>
        <p:txBody>
          <a:bodyPr wrap="square" anchor="t" lIns="0" rIns="0" tIns="0" bIns="0">
            <a:spAutoFit/>
          </a:bodyPr>
          <a:lstStyle/>
          <a:p>
            <a:pPr algn="r">
              <a:lnSpc>
                <a:spcPct val="100000"/>
              </a:lnSpc>
              <a:spcAft>
                <a:spcPts val="0"/>
              </a:spcAft>
            </a:pPr>
            <a:r>
              <a:rPr sz="850" b="0" i="0">
                <a:solidFill>
                  <a:srgbClr val="5B6B73"/>
                </a:solidFill>
                <a:latin typeface="Calibri"/>
              </a:rPr>
              <a:t>09 /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7315200" cy="292608"/>
          </a:xfrm>
          <a:prstGeom prst="rect">
            <a:avLst/>
          </a:prstGeom>
          <a:noFill/>
        </p:spPr>
        <p:txBody>
          <a:bodyPr wrap="square" anchor="t" lIns="0" rIns="0" tIns="0" bIns="0">
            <a:spAutoFit/>
          </a:bodyPr>
          <a:lstStyle/>
          <a:p>
            <a:pPr algn="l">
              <a:lnSpc>
                <a:spcPct val="100000"/>
              </a:lnSpc>
              <a:spcAft>
                <a:spcPts val="0"/>
              </a:spcAft>
            </a:pPr>
            <a:r>
              <a:rPr sz="1200" b="1" i="0">
                <a:solidFill>
                  <a:srgbClr val="2E7D32"/>
                </a:solidFill>
                <a:latin typeface="Calibri"/>
              </a:rPr>
              <a:t>WRAPPING UP</a:t>
            </a:r>
          </a:p>
        </p:txBody>
      </p:sp>
      <p:sp>
        <p:nvSpPr>
          <p:cNvPr id="5" name="TextBox 4"/>
          <p:cNvSpPr txBox="1"/>
          <p:nvPr/>
        </p:nvSpPr>
        <p:spPr>
          <a:xfrm>
            <a:off x="502920" y="548640"/>
            <a:ext cx="10607040" cy="621792"/>
          </a:xfrm>
          <a:prstGeom prst="rect">
            <a:avLst/>
          </a:prstGeom>
          <a:noFill/>
        </p:spPr>
        <p:txBody>
          <a:bodyPr wrap="square" anchor="t" lIns="0" rIns="0" tIns="0" bIns="0">
            <a:spAutoFit/>
          </a:bodyPr>
          <a:lstStyle/>
          <a:p>
            <a:pPr algn="l">
              <a:lnSpc>
                <a:spcPct val="100000"/>
              </a:lnSpc>
              <a:spcAft>
                <a:spcPts val="0"/>
              </a:spcAft>
            </a:pPr>
            <a:r>
              <a:rPr sz="2600" b="1" i="0">
                <a:solidFill>
                  <a:srgbClr val="1B4332"/>
                </a:solidFill>
                <a:latin typeface="Calibri"/>
              </a:rPr>
              <a:t>Conclusion &amp; Future Scope</a:t>
            </a:r>
          </a:p>
        </p:txBody>
      </p:sp>
      <p:sp>
        <p:nvSpPr>
          <p:cNvPr id="6" name="Rectangle 5"/>
          <p:cNvSpPr/>
          <p:nvPr/>
        </p:nvSpPr>
        <p:spPr>
          <a:xfrm>
            <a:off x="502920" y="1170432"/>
            <a:ext cx="1005840" cy="381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28816"/>
            <a:ext cx="5486400" cy="256032"/>
          </a:xfrm>
          <a:prstGeom prst="rect">
            <a:avLst/>
          </a:prstGeom>
          <a:noFill/>
        </p:spPr>
        <p:txBody>
          <a:bodyPr wrap="square" anchor="t" lIns="0" rIns="0" tIns="0" bIns="0">
            <a:spAutoFit/>
          </a:bodyPr>
          <a:lstStyle/>
          <a:p>
            <a:pPr algn="l">
              <a:lnSpc>
                <a:spcPct val="100000"/>
              </a:lnSpc>
              <a:spcAft>
                <a:spcPts val="0"/>
              </a:spcAft>
            </a:pPr>
            <a:r>
              <a:rPr sz="850" b="0" i="0">
                <a:solidFill>
                  <a:srgbClr val="5B6B73"/>
                </a:solidFill>
                <a:latin typeface="Calibri"/>
              </a:rPr>
              <a:t>Crop Recommendation &amp; Disease Detection System</a:t>
            </a:r>
          </a:p>
        </p:txBody>
      </p:sp>
      <p:sp>
        <p:nvSpPr>
          <p:cNvPr id="8" name="TextBox 7"/>
          <p:cNvSpPr txBox="1"/>
          <p:nvPr/>
        </p:nvSpPr>
        <p:spPr>
          <a:xfrm>
            <a:off x="502920" y="1463040"/>
            <a:ext cx="5349240" cy="320040"/>
          </a:xfrm>
          <a:prstGeom prst="rect">
            <a:avLst/>
          </a:prstGeom>
          <a:noFill/>
        </p:spPr>
        <p:txBody>
          <a:bodyPr wrap="square" anchor="t" lIns="0" rIns="0" tIns="0" bIns="0">
            <a:spAutoFit/>
          </a:bodyPr>
          <a:lstStyle/>
          <a:p>
            <a:pPr algn="l">
              <a:lnSpc>
                <a:spcPct val="100000"/>
              </a:lnSpc>
              <a:spcAft>
                <a:spcPts val="0"/>
              </a:spcAft>
            </a:pPr>
            <a:r>
              <a:rPr sz="1250" b="1" i="0">
                <a:solidFill>
                  <a:srgbClr val="2E7D32"/>
                </a:solidFill>
                <a:latin typeface="Calibri"/>
              </a:rPr>
              <a:t>CONCLUSION</a:t>
            </a:r>
          </a:p>
        </p:txBody>
      </p:sp>
      <p:sp>
        <p:nvSpPr>
          <p:cNvPr id="9" name="TextBox 8"/>
          <p:cNvSpPr txBox="1"/>
          <p:nvPr/>
        </p:nvSpPr>
        <p:spPr>
          <a:xfrm>
            <a:off x="502920" y="1828800"/>
            <a:ext cx="5349240" cy="3931920"/>
          </a:xfrm>
          <a:prstGeom prst="rect">
            <a:avLst/>
          </a:prstGeom>
          <a:noFill/>
        </p:spPr>
        <p:txBody>
          <a:bodyPr wrap="square" anchor="t" lIns="0" rIns="0" tIns="0" bIns="0">
            <a:spAutoFit/>
          </a:bodyPr>
          <a:lstStyle/>
          <a:p>
            <a:pPr algn="l">
              <a:lnSpc>
                <a:spcPct val="128000"/>
              </a:lnSpc>
              <a:spcAft>
                <a:spcPts val="0"/>
              </a:spcAft>
            </a:pPr>
            <a:r>
              <a:rPr sz="1250" b="0" i="0">
                <a:solidFill>
                  <a:srgbClr val="2C3E50"/>
                </a:solidFill>
                <a:latin typeface="Calibri"/>
              </a:rPr>
              <a:t>This project shows that classical Machine Learning and Deep Learning can work together in one application — recommending the right crop, diagnosing disease from a photo, and warning farmers before symptoms even appear.</a:t>
            </a:r>
          </a:p>
          <a:p>
            <a:pPr algn="l">
              <a:lnSpc>
                <a:spcPct val="128000"/>
              </a:lnSpc>
              <a:spcAft>
                <a:spcPts val="0"/>
              </a:spcAft>
            </a:pPr>
            <a:r>
              <a:rPr sz="1250" b="0" i="0">
                <a:solidFill>
                  <a:srgbClr val="2C3E50"/>
                </a:solidFill>
                <a:latin typeface="Calibri"/>
              </a:rPr>
              <a:t/>
            </a:r>
          </a:p>
          <a:p>
            <a:pPr algn="l">
              <a:lnSpc>
                <a:spcPct val="128000"/>
              </a:lnSpc>
              <a:spcAft>
                <a:spcPts val="0"/>
              </a:spcAft>
            </a:pPr>
            <a:r>
              <a:rPr sz="1250" b="0" i="0">
                <a:solidFill>
                  <a:srgbClr val="2C3E50"/>
                </a:solidFill>
                <a:latin typeface="Calibri"/>
              </a:rPr>
              <a:t>Most importantly, it directly answers a key limitation of image-based AI systems: by flagging low-confidence predictions instead of guessing, and by building a feedback loop with human review, the system is designed to keep learning rather than stay frozen at launch.</a:t>
            </a:r>
          </a:p>
          <a:p>
            <a:pPr algn="l">
              <a:lnSpc>
                <a:spcPct val="128000"/>
              </a:lnSpc>
              <a:spcAft>
                <a:spcPts val="0"/>
              </a:spcAft>
            </a:pPr>
            <a:r>
              <a:rPr sz="1250" b="0" i="0">
                <a:solidFill>
                  <a:srgbClr val="2C3E50"/>
                </a:solidFill>
                <a:latin typeface="Calibri"/>
              </a:rPr>
              <a:t/>
            </a:r>
          </a:p>
          <a:p>
            <a:pPr algn="l">
              <a:lnSpc>
                <a:spcPct val="128000"/>
              </a:lnSpc>
              <a:spcAft>
                <a:spcPts val="0"/>
              </a:spcAft>
            </a:pPr>
            <a:r>
              <a:rPr sz="1250" b="0" i="0">
                <a:solidFill>
                  <a:srgbClr val="2C3E50"/>
                </a:solidFill>
                <a:latin typeface="Calibri"/>
              </a:rPr>
              <a:t>The result is a practical, working proof-of-concept that goes beyond a basic prediction tool, with a clear and realistic path to further improvement.</a:t>
            </a:r>
          </a:p>
        </p:txBody>
      </p:sp>
      <p:sp>
        <p:nvSpPr>
          <p:cNvPr id="10" name="TextBox 9"/>
          <p:cNvSpPr txBox="1"/>
          <p:nvPr/>
        </p:nvSpPr>
        <p:spPr>
          <a:xfrm>
            <a:off x="6263640" y="1463040"/>
            <a:ext cx="5394960" cy="320040"/>
          </a:xfrm>
          <a:prstGeom prst="rect">
            <a:avLst/>
          </a:prstGeom>
          <a:noFill/>
        </p:spPr>
        <p:txBody>
          <a:bodyPr wrap="square" anchor="t" lIns="0" rIns="0" tIns="0" bIns="0">
            <a:spAutoFit/>
          </a:bodyPr>
          <a:lstStyle/>
          <a:p>
            <a:pPr algn="l">
              <a:lnSpc>
                <a:spcPct val="100000"/>
              </a:lnSpc>
              <a:spcAft>
                <a:spcPts val="0"/>
              </a:spcAft>
            </a:pPr>
            <a:r>
              <a:rPr sz="1250" b="1" i="0">
                <a:solidFill>
                  <a:srgbClr val="F9A825"/>
                </a:solidFill>
                <a:latin typeface="Calibri"/>
              </a:rPr>
              <a:t>FUTURE SCOPE</a:t>
            </a:r>
          </a:p>
        </p:txBody>
      </p:sp>
      <p:sp>
        <p:nvSpPr>
          <p:cNvPr id="11" name="TextBox 10"/>
          <p:cNvSpPr txBox="1"/>
          <p:nvPr/>
        </p:nvSpPr>
        <p:spPr>
          <a:xfrm>
            <a:off x="6263640" y="1920240"/>
            <a:ext cx="5394960" cy="3657600"/>
          </a:xfrm>
          <a:prstGeom prst="rect">
            <a:avLst/>
          </a:prstGeom>
          <a:noFill/>
        </p:spPr>
        <p:txBody>
          <a:bodyPr wrap="square" lIns="0" rIns="0" tIns="0" bIns="0">
            <a:spAutoFit/>
          </a:bodyPr>
          <a:lstStyle/>
          <a:p>
            <a:pPr algn="l">
              <a:lnSpc>
                <a:spcPct val="118000"/>
              </a:lnSpc>
              <a:spcAft>
                <a:spcPts val="1600"/>
              </a:spcAft>
            </a:pPr>
            <a:r>
              <a:rPr sz="1200" b="1">
                <a:solidFill>
                  <a:srgbClr val="F9A825"/>
                </a:solidFill>
                <a:latin typeface="Calibri"/>
              </a:rPr>
              <a:t>›  </a:t>
            </a:r>
            <a:r>
              <a:rPr sz="1200" b="1">
                <a:solidFill>
                  <a:srgbClr val="1B4332"/>
                </a:solidFill>
                <a:latin typeface="Calibri"/>
              </a:rPr>
              <a:t>Live weather integration: </a:t>
            </a:r>
            <a:r>
              <a:rPr sz="1200">
                <a:solidFill>
                  <a:srgbClr val="2C3E50"/>
                </a:solidFill>
                <a:latin typeface="Calibri"/>
              </a:rPr>
              <a:t>replace simulated weather data with a real-time API for more accurate risk forecasting.</a:t>
            </a:r>
          </a:p>
          <a:p>
            <a:pPr algn="l">
              <a:lnSpc>
                <a:spcPct val="118000"/>
              </a:lnSpc>
              <a:spcAft>
                <a:spcPts val="1600"/>
              </a:spcAft>
            </a:pPr>
            <a:r>
              <a:rPr sz="1200" b="1">
                <a:solidFill>
                  <a:srgbClr val="F9A825"/>
                </a:solidFill>
                <a:latin typeface="Calibri"/>
              </a:rPr>
              <a:t>›  </a:t>
            </a:r>
            <a:r>
              <a:rPr sz="1200" b="1">
                <a:solidFill>
                  <a:srgbClr val="1B4332"/>
                </a:solidFill>
                <a:latin typeface="Calibri"/>
              </a:rPr>
              <a:t>Automated retraining: </a:t>
            </a:r>
            <a:r>
              <a:rPr sz="1200">
                <a:solidFill>
                  <a:srgbClr val="2C3E50"/>
                </a:solidFill>
                <a:latin typeface="Calibri"/>
              </a:rPr>
              <a:t>periodically fold admin-approved unknown-disease reports back into the CNN's training set.</a:t>
            </a:r>
          </a:p>
          <a:p>
            <a:pPr algn="l">
              <a:lnSpc>
                <a:spcPct val="118000"/>
              </a:lnSpc>
              <a:spcAft>
                <a:spcPts val="1600"/>
              </a:spcAft>
            </a:pPr>
            <a:r>
              <a:rPr sz="1200" b="1">
                <a:solidFill>
                  <a:srgbClr val="F9A825"/>
                </a:solidFill>
                <a:latin typeface="Calibri"/>
              </a:rPr>
              <a:t>›  </a:t>
            </a:r>
            <a:r>
              <a:rPr sz="1200" b="1">
                <a:solidFill>
                  <a:srgbClr val="1B4332"/>
                </a:solidFill>
                <a:latin typeface="Calibri"/>
              </a:rPr>
              <a:t>Yield &amp; profit prediction: </a:t>
            </a:r>
            <a:r>
              <a:rPr sz="1200">
                <a:solidFill>
                  <a:srgbClr val="2C3E50"/>
                </a:solidFill>
                <a:latin typeface="Calibri"/>
              </a:rPr>
              <a:t>combine crop recommendation with expected yield and market price.</a:t>
            </a:r>
          </a:p>
          <a:p>
            <a:pPr algn="l">
              <a:lnSpc>
                <a:spcPct val="118000"/>
              </a:lnSpc>
              <a:spcAft>
                <a:spcPts val="1600"/>
              </a:spcAft>
            </a:pPr>
            <a:r>
              <a:rPr sz="1200" b="1">
                <a:solidFill>
                  <a:srgbClr val="F9A825"/>
                </a:solidFill>
                <a:latin typeface="Calibri"/>
              </a:rPr>
              <a:t>›  </a:t>
            </a:r>
            <a:r>
              <a:rPr sz="1200" b="1">
                <a:solidFill>
                  <a:srgbClr val="1B4332"/>
                </a:solidFill>
                <a:latin typeface="Calibri"/>
              </a:rPr>
              <a:t>Regional language support: </a:t>
            </a:r>
            <a:r>
              <a:rPr sz="1200">
                <a:solidFill>
                  <a:srgbClr val="2C3E50"/>
                </a:solidFill>
                <a:latin typeface="Calibri"/>
              </a:rPr>
              <a:t>add Hindi and Marathi, plus voice input, for wider farmer accessibility.</a:t>
            </a:r>
          </a:p>
          <a:p>
            <a:pPr algn="l">
              <a:lnSpc>
                <a:spcPct val="118000"/>
              </a:lnSpc>
              <a:spcAft>
                <a:spcPts val="1600"/>
              </a:spcAft>
            </a:pPr>
            <a:r>
              <a:rPr sz="1200" b="1">
                <a:solidFill>
                  <a:srgbClr val="F9A825"/>
                </a:solidFill>
                <a:latin typeface="Calibri"/>
              </a:rPr>
              <a:t>›  </a:t>
            </a:r>
            <a:r>
              <a:rPr sz="1200" b="1">
                <a:solidFill>
                  <a:srgbClr val="1B4332"/>
                </a:solidFill>
                <a:latin typeface="Calibri"/>
              </a:rPr>
              <a:t>Offline-capable mobile app: </a:t>
            </a:r>
            <a:r>
              <a:rPr sz="1200">
                <a:solidFill>
                  <a:srgbClr val="2C3E50"/>
                </a:solidFill>
                <a:latin typeface="Calibri"/>
              </a:rPr>
              <a:t>a lightweight version for low-connectivity rural areas.</a:t>
            </a:r>
          </a:p>
        </p:txBody>
      </p:sp>
      <p:sp>
        <p:nvSpPr>
          <p:cNvPr id="12" name="Rounded Rectangle 11"/>
          <p:cNvSpPr/>
          <p:nvPr/>
        </p:nvSpPr>
        <p:spPr>
          <a:xfrm>
            <a:off x="502920" y="5989320"/>
            <a:ext cx="11183112" cy="548640"/>
          </a:xfrm>
          <a:prstGeom prst="roundRect">
            <a:avLst>
              <a:gd name="adj" fmla="val 18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6108192"/>
            <a:ext cx="11183112" cy="329184"/>
          </a:xfrm>
          <a:prstGeom prst="rect">
            <a:avLst/>
          </a:prstGeom>
          <a:noFill/>
        </p:spPr>
        <p:txBody>
          <a:bodyPr wrap="square" anchor="t" lIns="0" rIns="0" tIns="0" bIns="0">
            <a:spAutoFit/>
          </a:bodyPr>
          <a:lstStyle/>
          <a:p>
            <a:pPr algn="ctr">
              <a:lnSpc>
                <a:spcPct val="100000"/>
              </a:lnSpc>
              <a:spcAft>
                <a:spcPts val="0"/>
              </a:spcAft>
            </a:pPr>
            <a:r>
              <a:rPr sz="1600" b="1" i="0">
                <a:solidFill>
                  <a:srgbClr val="FFFFFF"/>
                </a:solidFill>
                <a:latin typeface="Calibri"/>
              </a:rPr>
              <a:t>Thank You  —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